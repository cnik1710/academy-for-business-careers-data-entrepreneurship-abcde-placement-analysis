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73" r:id="rId3"/>
    <p:sldId id="274" r:id="rId4"/>
    <p:sldId id="275" r:id="rId5"/>
    <p:sldId id="260" r:id="rId6"/>
    <p:sldId id="277" r:id="rId7"/>
    <p:sldId id="278" r:id="rId8"/>
    <p:sldId id="264" r:id="rId9"/>
    <p:sldId id="280" r:id="rId10"/>
    <p:sldId id="266" r:id="rId11"/>
    <p:sldId id="271" r:id="rId12"/>
    <p:sldId id="281" r:id="rId13"/>
    <p:sldId id="267" r:id="rId14"/>
    <p:sldId id="272" r:id="rId15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995" autoAdjust="0"/>
    <p:restoredTop sz="94660"/>
  </p:normalViewPr>
  <p:slideViewPr>
    <p:cSldViewPr snapToGrid="0">
      <p:cViewPr varScale="1">
        <p:scale>
          <a:sx n="70" d="100"/>
          <a:sy n="70" d="100"/>
        </p:scale>
        <p:origin x="536" y="5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98EFC95-068C-3B43-88D8-E9CDB880A42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637D26B2-92B4-B808-67B3-27FEC1A62B6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02593E1-B1BC-5CB4-8331-D7E32F4F0DE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B097544-862A-4013-B8B9-5263AB4C5B4B}" type="datetimeFigureOut">
              <a:rPr lang="en-US" smtClean="0"/>
              <a:t>4/4/2026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3DC31A0-8114-E951-E69B-71BD77972C4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0B0FD2A-BDF4-0113-B6F5-E0A1486E728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9B0B86-95F4-4A33-B47F-08CB2E6C1E7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3234405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9DAAABB-5ACE-2CCB-FD82-46DAAC10FAD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AA4BE3E-9027-A892-3794-3DA286112C4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F655BDF-8E91-5184-EF9B-A95B9240002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B097544-862A-4013-B8B9-5263AB4C5B4B}" type="datetimeFigureOut">
              <a:rPr lang="en-US" smtClean="0"/>
              <a:t>4/4/2026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EF1DEA5-072E-80F1-80C3-FE312C9B5E3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540EAD3-D7B6-7844-557E-B89E29CBD4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9B0B86-95F4-4A33-B47F-08CB2E6C1E7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6751647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A43CA09-0CEF-9665-E2C3-D84FE0DB374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3C41F0D-841D-5D22-4753-17E6591F2CB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82C078B-A0AC-65C4-D192-E0B214B36DC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B097544-862A-4013-B8B9-5263AB4C5B4B}" type="datetimeFigureOut">
              <a:rPr lang="en-US" smtClean="0"/>
              <a:t>4/4/2026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8265999-1738-4CC6-39C3-7AF3489D2E4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06EDDEF-7E03-99D0-F896-D0E333135C2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9B0B86-95F4-4A33-B47F-08CB2E6C1E7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771012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7A065E9-04F0-C3F6-6A9E-A61D39A926B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B2E84DE-23BB-247F-72E7-57A866B438C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1F1C973-FDEE-DFB7-8992-BB84543E5BB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13DE9F4-164A-119B-CCE2-DAF82FCCEA0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B097544-862A-4013-B8B9-5263AB4C5B4B}" type="datetimeFigureOut">
              <a:rPr lang="en-US" smtClean="0"/>
              <a:t>4/4/2026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6098C4D-75FC-950B-6E19-57C44F1CC5B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0D6AD81-6D82-C6EC-5813-8C349CB5742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9B0B86-95F4-4A33-B47F-08CB2E6C1E7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076685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155E509-7E6F-79A5-A71A-9FEE53516AF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8176EB0-A12C-105A-1529-D725F5BC1FE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F24C07A-1128-CD2A-12A2-425722C475F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6C7FA242-5314-56B5-DB18-9CC2AF6E41C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A7133876-9E67-06B7-C143-22E74B1528D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2B51318A-EA73-F3AC-CB42-AF8387222DA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B097544-862A-4013-B8B9-5263AB4C5B4B}" type="datetimeFigureOut">
              <a:rPr lang="en-US" smtClean="0"/>
              <a:t>4/4/2026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5D91FFF0-1614-6812-2D64-1D393600543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5D759242-4095-573E-630B-745F14F3232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9B0B86-95F4-4A33-B47F-08CB2E6C1E7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867764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7B066E4-3D39-66E0-BB9B-E3A86D125BB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95BC402B-E665-51FB-DE1E-F7CCDFC7951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B097544-862A-4013-B8B9-5263AB4C5B4B}" type="datetimeFigureOut">
              <a:rPr lang="en-US" smtClean="0"/>
              <a:t>4/4/2026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A6CE8EC-58F3-616C-754A-A1E7298FC9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22D2BC1-A270-F350-BD9B-81ED3B5CAEB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9B0B86-95F4-4A33-B47F-08CB2E6C1E7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9473545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E637D37E-AED5-7AB5-CD22-2BC6B9D48A8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B097544-862A-4013-B8B9-5263AB4C5B4B}" type="datetimeFigureOut">
              <a:rPr lang="en-US" smtClean="0"/>
              <a:t>4/4/2026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9F2A41DB-AFC0-4C66-9E51-1D719A71F6C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C120B64-1984-743C-DBD3-A5A8C2B50D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9B0B86-95F4-4A33-B47F-08CB2E6C1E7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0821502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009007C-3FA7-E993-CD0A-57F301E8A96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42C7942-350D-2AFF-3706-984C4C4BD3B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D9F263E-FDF6-5F83-13C6-EBF8E189CF0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3F05310-E2B2-347A-02E2-2B9BD735AC7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B097544-862A-4013-B8B9-5263AB4C5B4B}" type="datetimeFigureOut">
              <a:rPr lang="en-US" smtClean="0"/>
              <a:t>4/4/2026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91DD8DC-2029-246F-1B88-22CBAE44096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B10C36D-2798-BF05-175A-DEF202E5E41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9B0B86-95F4-4A33-B47F-08CB2E6C1E7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8635472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3AECD89-9132-ADA2-91AC-77C0C5C2FB9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9B8BF999-C7A0-E4B9-11E4-44CC395F8FF6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B6C211B-6B2C-B9AD-EB21-630603C083A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5143E14-2BB4-C435-0DBE-ABDB7E268BB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B097544-862A-4013-B8B9-5263AB4C5B4B}" type="datetimeFigureOut">
              <a:rPr lang="en-US" smtClean="0"/>
              <a:t>4/4/2026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05403E5-7478-E6AD-9609-5582532E1D3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5AE6FAB-086E-3147-FC1B-551DF503611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9B0B86-95F4-4A33-B47F-08CB2E6C1E7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2445295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2A095FF-A624-D8D7-B8C2-990A0866B22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A8B8F493-EB84-B74F-9F07-60773D05219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24B3D7B-601F-2698-DCA1-08FA33913BE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B097544-862A-4013-B8B9-5263AB4C5B4B}" type="datetimeFigureOut">
              <a:rPr lang="en-US" smtClean="0"/>
              <a:t>4/4/2026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A7BA7A8-9F0E-4302-779D-8FEFFF204BC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86D65A8-781C-DEB3-FAFE-06746BEEEC1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9B0B86-95F4-4A33-B47F-08CB2E6C1E7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3163924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27845C3E-7CCC-C648-0D43-EF24FA83639B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1E2315C-54A2-EBD9-245C-11F9A402916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65565EA-48E7-A7DD-BE84-CC4996480B6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B097544-862A-4013-B8B9-5263AB4C5B4B}" type="datetimeFigureOut">
              <a:rPr lang="en-US" smtClean="0"/>
              <a:t>4/4/2026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E44FD75-52AA-199F-390C-01BDB7383BC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010AB6D-1078-E23D-16E4-3BD4C06510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9B0B86-95F4-4A33-B47F-08CB2E6C1E7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1541003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2C3FAA4B-462F-188A-1C46-723A15EF88C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13381D4-0C32-F199-9C0C-E05908796E2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A7B298D-C4AF-2A6C-D43D-821EFC505CA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B097544-862A-4013-B8B9-5263AB4C5B4B}" type="datetimeFigureOut">
              <a:rPr lang="en-US" smtClean="0"/>
              <a:t>4/4/2026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D1B4F22-9FA3-414B-4D31-6787AB8DB10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86A2845-6857-54F3-962B-8B9F18AA222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E9B0B86-95F4-4A33-B47F-08CB2E6C1E7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9699830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linkedin.com/in/cnik1710/" TargetMode="External"/><Relationship Id="rId2" Type="http://schemas.openxmlformats.org/officeDocument/2006/relationships/hyperlink" Target="https://github.com/Cnik1710" TargetMode="Externa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839D83E-E910-9290-37C4-DD2DB076359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57200" y="1271016"/>
            <a:ext cx="11265408" cy="2238947"/>
          </a:xfrm>
        </p:spPr>
        <p:txBody>
          <a:bodyPr>
            <a:normAutofit fontScale="90000"/>
          </a:bodyPr>
          <a:lstStyle/>
          <a:p>
            <a:r>
              <a:rPr lang="en-US" b="1" dirty="0"/>
              <a:t>Academy for Business Careers, Data &amp; Entrepreneurship (ABCDE) - Placement Analysis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C583C9FC-B57D-C06E-4229-BAE4DD7A2BF5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pPr algn="r"/>
            <a:r>
              <a:rPr lang="en-US" b="1" dirty="0"/>
              <a:t>- A Case Study by Anik Chakraborty</a:t>
            </a:r>
          </a:p>
        </p:txBody>
      </p:sp>
    </p:spTree>
    <p:extLst>
      <p:ext uri="{BB962C8B-B14F-4D97-AF65-F5344CB8AC3E}">
        <p14:creationId xmlns:p14="http://schemas.microsoft.com/office/powerpoint/2010/main" val="80959496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C2542C3-3E90-1ECD-9C2C-2EF3B87354B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3B3BB1B-94E4-6BBD-983C-6D58B60331C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"/>
            <a:ext cx="12192000" cy="1179575"/>
          </a:xfrm>
        </p:spPr>
        <p:txBody>
          <a:bodyPr/>
          <a:lstStyle/>
          <a:p>
            <a:r>
              <a:rPr lang="en-US" b="1" dirty="0"/>
              <a:t>🎯 Objective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C713F40-B3DF-B71E-D855-A70072E4DDC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1527048"/>
            <a:ext cx="12192000" cy="5330952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1400" dirty="0"/>
              <a:t>To develop an interactive </a:t>
            </a:r>
            <a:r>
              <a:rPr lang="en-US" sz="1400" b="1" dirty="0"/>
              <a:t>Placement Analytics Dashboard</a:t>
            </a:r>
            <a:r>
              <a:rPr lang="en-US" sz="1400" dirty="0"/>
              <a:t> to evaluate student placement performance and identify key salary drivers at </a:t>
            </a:r>
            <a:r>
              <a:rPr lang="en-US" sz="1400" b="1" dirty="0"/>
              <a:t>Academy for Business Careers, Data &amp; Entrepreneurship (ABCDE)</a:t>
            </a:r>
            <a:r>
              <a:rPr lang="en-US" sz="1400" dirty="0"/>
              <a:t>.</a:t>
            </a:r>
          </a:p>
          <a:p>
            <a:pPr marL="0" indent="0">
              <a:buNone/>
            </a:pPr>
            <a:r>
              <a:rPr lang="en-US" sz="1400" b="1" dirty="0"/>
              <a:t>Project Purpose:</a:t>
            </a:r>
          </a:p>
          <a:p>
            <a:pPr lvl="1"/>
            <a:r>
              <a:rPr lang="en-US" sz="1400" dirty="0"/>
              <a:t>Analyze placement outcomes across </a:t>
            </a:r>
            <a:r>
              <a:rPr lang="en-US" sz="1400" b="1" dirty="0"/>
              <a:t>gender, specialization, degree type, and work experience</a:t>
            </a:r>
            <a:endParaRPr lang="en-US" sz="1400" dirty="0"/>
          </a:p>
          <a:p>
            <a:pPr lvl="1"/>
            <a:r>
              <a:rPr lang="en-US" sz="1400" dirty="0"/>
              <a:t>Identify </a:t>
            </a:r>
            <a:r>
              <a:rPr lang="en-US" sz="1400" b="1" dirty="0"/>
              <a:t>academic and demographic factors</a:t>
            </a:r>
            <a:r>
              <a:rPr lang="en-US" sz="1400" dirty="0"/>
              <a:t> influencing placement success</a:t>
            </a:r>
          </a:p>
          <a:p>
            <a:pPr lvl="1"/>
            <a:r>
              <a:rPr lang="en-US" sz="1400" dirty="0"/>
              <a:t>Examine </a:t>
            </a:r>
            <a:r>
              <a:rPr lang="en-US" sz="1400" b="1" dirty="0"/>
              <a:t>salary distribution and CGPA-to-salary trends</a:t>
            </a:r>
            <a:endParaRPr lang="en-US" sz="1400" dirty="0"/>
          </a:p>
          <a:p>
            <a:pPr lvl="1"/>
            <a:r>
              <a:rPr lang="en-US" sz="1400" dirty="0"/>
              <a:t>Provide </a:t>
            </a:r>
            <a:r>
              <a:rPr lang="en-US" sz="1400" b="1" dirty="0"/>
              <a:t>actionable insights</a:t>
            </a:r>
            <a:r>
              <a:rPr lang="en-US" sz="1400" dirty="0"/>
              <a:t> for institutional improvement</a:t>
            </a:r>
          </a:p>
          <a:p>
            <a:pPr marL="0" indent="0">
              <a:buNone/>
            </a:pPr>
            <a:r>
              <a:rPr lang="en-US" sz="1400" b="1" dirty="0"/>
              <a:t>Key KPIs:</a:t>
            </a:r>
          </a:p>
          <a:p>
            <a:pPr lvl="1"/>
            <a:r>
              <a:rPr lang="en-US" sz="1400" b="1" dirty="0"/>
              <a:t>Total Students: 215</a:t>
            </a:r>
            <a:endParaRPr lang="en-US" sz="1400" dirty="0"/>
          </a:p>
          <a:p>
            <a:pPr lvl="1"/>
            <a:r>
              <a:rPr lang="en-US" sz="1400" b="1" dirty="0"/>
              <a:t>Placed Students: 148</a:t>
            </a:r>
            <a:endParaRPr lang="en-US" sz="1400" dirty="0"/>
          </a:p>
          <a:p>
            <a:pPr lvl="1"/>
            <a:r>
              <a:rPr lang="en-US" sz="1400" b="1" dirty="0"/>
              <a:t>Placement Rate: 68.84%</a:t>
            </a:r>
            <a:endParaRPr lang="en-US" sz="1400" dirty="0"/>
          </a:p>
          <a:p>
            <a:pPr lvl="1"/>
            <a:r>
              <a:rPr lang="en-US" sz="1400" b="1" dirty="0"/>
              <a:t>Average Salary: ₹198.70K</a:t>
            </a:r>
            <a:endParaRPr lang="en-US" sz="1400" dirty="0"/>
          </a:p>
          <a:p>
            <a:pPr lvl="1"/>
            <a:r>
              <a:rPr lang="en-US" sz="1400" b="1" dirty="0"/>
              <a:t>Maximum Salary: ₹940K</a:t>
            </a:r>
            <a:endParaRPr lang="en-US" sz="1400" dirty="0"/>
          </a:p>
          <a:p>
            <a:pPr lvl="1"/>
            <a:r>
              <a:rPr lang="en-US" sz="1400" b="1" dirty="0"/>
              <a:t>Placement Rate by Degree Type &amp; Specialization</a:t>
            </a:r>
            <a:endParaRPr lang="en-US" sz="1400" dirty="0"/>
          </a:p>
          <a:p>
            <a:pPr marL="0" indent="0">
              <a:buNone/>
            </a:pPr>
            <a:r>
              <a:rPr lang="en-US" sz="1400" b="1" dirty="0"/>
              <a:t>Deliverables:</a:t>
            </a:r>
          </a:p>
          <a:p>
            <a:pPr lvl="1"/>
            <a:r>
              <a:rPr lang="en-US" sz="1400" b="1" dirty="0"/>
              <a:t>Interactive Power BI Dashboard</a:t>
            </a:r>
            <a:endParaRPr lang="en-US" sz="1400" dirty="0"/>
          </a:p>
          <a:p>
            <a:pPr lvl="1"/>
            <a:r>
              <a:rPr lang="en-US" sz="1400" b="1" dirty="0"/>
              <a:t>Executive Presentation</a:t>
            </a:r>
            <a:endParaRPr lang="en-US" sz="1400" dirty="0"/>
          </a:p>
          <a:p>
            <a:pPr lvl="1"/>
            <a:r>
              <a:rPr lang="en-US" sz="1400" b="1" dirty="0"/>
              <a:t>Insights &amp; KPI Summary Report</a:t>
            </a:r>
            <a:endParaRPr lang="en-US" sz="1400" dirty="0"/>
          </a:p>
        </p:txBody>
      </p:sp>
    </p:spTree>
    <p:extLst>
      <p:ext uri="{BB962C8B-B14F-4D97-AF65-F5344CB8AC3E}">
        <p14:creationId xmlns:p14="http://schemas.microsoft.com/office/powerpoint/2010/main" val="281541163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85E3D56-EFEF-5B4E-645A-5049E9A5DE1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767EE49-CCAC-EE12-BD11-1F13AE47B86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"/>
            <a:ext cx="12192000" cy="1161287"/>
          </a:xfrm>
        </p:spPr>
        <p:txBody>
          <a:bodyPr/>
          <a:lstStyle/>
          <a:p>
            <a:r>
              <a:rPr lang="en-US" dirty="0"/>
              <a:t>📘 </a:t>
            </a:r>
            <a:r>
              <a:rPr lang="en-US" b="1" dirty="0"/>
              <a:t>Project Overview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74A1A11-0FF6-A7F0-01BB-747669797AA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1344168"/>
            <a:ext cx="12192000" cy="5312663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1500" b="1" dirty="0"/>
              <a:t>Context Highlights:</a:t>
            </a:r>
          </a:p>
          <a:p>
            <a:pPr lvl="1"/>
            <a:r>
              <a:rPr lang="en-US" sz="1500" dirty="0"/>
              <a:t>Analyzed </a:t>
            </a:r>
            <a:r>
              <a:rPr lang="en-US" sz="1500" b="1" dirty="0"/>
              <a:t>215 student placement records (AY 2025–26)</a:t>
            </a:r>
            <a:endParaRPr lang="en-US" sz="1500" dirty="0"/>
          </a:p>
          <a:p>
            <a:pPr lvl="1"/>
            <a:endParaRPr lang="en-US" sz="1500" dirty="0"/>
          </a:p>
          <a:p>
            <a:pPr lvl="1"/>
            <a:r>
              <a:rPr lang="en-US" sz="1500" dirty="0"/>
              <a:t>Evaluated </a:t>
            </a:r>
            <a:r>
              <a:rPr lang="en-US" sz="1500" b="1" dirty="0"/>
              <a:t>academic metrics – degree type, specialization, CGPA</a:t>
            </a:r>
            <a:endParaRPr lang="en-US" sz="1500" dirty="0"/>
          </a:p>
          <a:p>
            <a:pPr lvl="1"/>
            <a:endParaRPr lang="en-US" sz="1500" dirty="0"/>
          </a:p>
          <a:p>
            <a:pPr lvl="1"/>
            <a:r>
              <a:rPr lang="en-US" sz="1500" dirty="0"/>
              <a:t>Assessed </a:t>
            </a:r>
            <a:r>
              <a:rPr lang="en-US" sz="1500" b="1" dirty="0"/>
              <a:t>demographics – gender, work experience</a:t>
            </a:r>
            <a:endParaRPr lang="en-US" sz="1500" dirty="0"/>
          </a:p>
          <a:p>
            <a:pPr lvl="1"/>
            <a:endParaRPr lang="en-US" sz="1500" dirty="0"/>
          </a:p>
          <a:p>
            <a:pPr lvl="1"/>
            <a:r>
              <a:rPr lang="en-US" sz="1500" dirty="0"/>
              <a:t>Examined </a:t>
            </a:r>
            <a:r>
              <a:rPr lang="en-US" sz="1500" b="1" dirty="0"/>
              <a:t>placement status and salary outcomes</a:t>
            </a:r>
            <a:endParaRPr lang="en-US" sz="1500" dirty="0"/>
          </a:p>
          <a:p>
            <a:pPr lvl="1"/>
            <a:endParaRPr lang="en-US" sz="1500" dirty="0"/>
          </a:p>
          <a:p>
            <a:pPr lvl="1"/>
            <a:r>
              <a:rPr lang="en-US" sz="1500" dirty="0"/>
              <a:t>Demonstrates how </a:t>
            </a:r>
            <a:r>
              <a:rPr lang="en-US" sz="1500" b="1" dirty="0"/>
              <a:t>data analytics empowers institutional decisions</a:t>
            </a:r>
            <a:r>
              <a:rPr lang="en-US" sz="1500" dirty="0"/>
              <a:t> to optimize placement strategies and student performance evaluation.</a:t>
            </a:r>
          </a:p>
          <a:p>
            <a:pPr lvl="1"/>
            <a:endParaRPr lang="en-US" sz="1500" dirty="0"/>
          </a:p>
          <a:p>
            <a:pPr lvl="1"/>
            <a:r>
              <a:rPr lang="en-US" sz="1500" dirty="0"/>
              <a:t>Built an </a:t>
            </a:r>
            <a:r>
              <a:rPr lang="en-US" sz="1500" b="1" dirty="0"/>
              <a:t>interactive Placement Analytics Dashboard</a:t>
            </a:r>
            <a:r>
              <a:rPr lang="en-US" sz="1500" dirty="0"/>
              <a:t> using Power BI.</a:t>
            </a:r>
            <a:br>
              <a:rPr lang="en-US" sz="1500" dirty="0"/>
            </a:br>
            <a:r>
              <a:rPr lang="en-US" sz="1500" dirty="0"/>
              <a:t>	Key insights derived on:</a:t>
            </a:r>
          </a:p>
          <a:p>
            <a:pPr lvl="2"/>
            <a:r>
              <a:rPr lang="en-US" sz="1500" dirty="0"/>
              <a:t>Overall placement rate and salary distribution</a:t>
            </a:r>
          </a:p>
          <a:p>
            <a:pPr lvl="2"/>
            <a:r>
              <a:rPr lang="en-US" sz="1500" dirty="0"/>
              <a:t>CGPA-to-salary correlation patterns</a:t>
            </a:r>
          </a:p>
          <a:p>
            <a:pPr lvl="2"/>
            <a:r>
              <a:rPr lang="en-US" sz="1500" dirty="0"/>
              <a:t>Gender and background-based placement trends</a:t>
            </a:r>
          </a:p>
          <a:p>
            <a:pPr lvl="2"/>
            <a:r>
              <a:rPr lang="en-US" sz="1500" dirty="0"/>
              <a:t>Specialization-wise salary contributions</a:t>
            </a:r>
            <a:br>
              <a:rPr lang="en-US" sz="1500" dirty="0"/>
            </a:br>
            <a:endParaRPr lang="en-US" sz="1500" dirty="0"/>
          </a:p>
          <a:p>
            <a:pPr lvl="1"/>
            <a:endParaRPr lang="en-US" sz="1500" dirty="0"/>
          </a:p>
        </p:txBody>
      </p:sp>
    </p:spTree>
    <p:extLst>
      <p:ext uri="{BB962C8B-B14F-4D97-AF65-F5344CB8AC3E}">
        <p14:creationId xmlns:p14="http://schemas.microsoft.com/office/powerpoint/2010/main" val="236921136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E0842B8-FCB3-DE54-632F-6CC30A0A903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FC64FB5-FC5D-4DBC-581E-311A02C0CF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"/>
            <a:ext cx="12192000" cy="1115567"/>
          </a:xfrm>
        </p:spPr>
        <p:txBody>
          <a:bodyPr/>
          <a:lstStyle/>
          <a:p>
            <a:r>
              <a:rPr lang="en-US" b="1" dirty="0"/>
              <a:t>🗂️ Data Overview &amp; Schema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0D9FFFB-3FB5-0006-0EF2-162A6B9848D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1243584"/>
            <a:ext cx="12192000" cy="5614415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1500" b="1" dirty="0"/>
              <a:t>Data Source:</a:t>
            </a:r>
          </a:p>
          <a:p>
            <a:pPr lvl="1"/>
            <a:r>
              <a:rPr lang="en-US" sz="1500" b="1" dirty="0"/>
              <a:t>Source:  Institutional placement dataset (simulated academic dataset)</a:t>
            </a:r>
            <a:endParaRPr lang="en-US" sz="1500" dirty="0"/>
          </a:p>
          <a:p>
            <a:pPr lvl="1"/>
            <a:r>
              <a:rPr lang="en-US" sz="1500" b="1" dirty="0"/>
              <a:t>Data Type:  Structured student-level records</a:t>
            </a:r>
            <a:endParaRPr lang="en-US" sz="1500" dirty="0"/>
          </a:p>
          <a:p>
            <a:pPr lvl="1"/>
            <a:r>
              <a:rPr lang="en-US" sz="1500" b="1" dirty="0"/>
              <a:t>Time Period:  Academic Year 2025–26</a:t>
            </a:r>
            <a:endParaRPr lang="en-US" sz="1500" dirty="0"/>
          </a:p>
          <a:p>
            <a:pPr marL="0" indent="0">
              <a:buNone/>
            </a:pPr>
            <a:endParaRPr lang="en-US" sz="1500" b="1" dirty="0"/>
          </a:p>
          <a:p>
            <a:pPr marL="0" indent="0">
              <a:buNone/>
            </a:pPr>
            <a:r>
              <a:rPr lang="en-US" sz="1500" b="1" dirty="0"/>
              <a:t>Data Structure &amp; Metrics:</a:t>
            </a:r>
          </a:p>
          <a:p>
            <a:pPr lvl="1"/>
            <a:r>
              <a:rPr lang="en-US" sz="1500" b="1" dirty="0"/>
              <a:t>Key Index Type: Student-level unique ID</a:t>
            </a:r>
            <a:endParaRPr lang="en-US" sz="1500" dirty="0"/>
          </a:p>
          <a:p>
            <a:pPr lvl="1"/>
            <a:r>
              <a:rPr lang="en-US" sz="1500" b="1" dirty="0"/>
              <a:t>Total Rows: 215</a:t>
            </a:r>
          </a:p>
          <a:p>
            <a:pPr lvl="1"/>
            <a:r>
              <a:rPr lang="en-US" sz="1500" dirty="0"/>
              <a:t>Categories:</a:t>
            </a:r>
          </a:p>
          <a:p>
            <a:pPr lvl="2"/>
            <a:r>
              <a:rPr lang="en-US" sz="1500" b="1" dirty="0"/>
              <a:t>Demographics:</a:t>
            </a:r>
            <a:r>
              <a:rPr lang="en-US" sz="1500" dirty="0"/>
              <a:t> Gender, Work Experience</a:t>
            </a:r>
          </a:p>
          <a:p>
            <a:pPr lvl="2"/>
            <a:r>
              <a:rPr lang="en-US" sz="1500" b="1" dirty="0"/>
              <a:t>Academics:</a:t>
            </a:r>
            <a:r>
              <a:rPr lang="en-US" sz="1500" dirty="0"/>
              <a:t> Degree Type, Specialization, CGPA</a:t>
            </a:r>
          </a:p>
          <a:p>
            <a:pPr lvl="2"/>
            <a:r>
              <a:rPr lang="en-US" sz="1500" b="1" dirty="0"/>
              <a:t>Placement:</a:t>
            </a:r>
            <a:r>
              <a:rPr lang="en-US" sz="1500" dirty="0"/>
              <a:t> Placement Status, Salary</a:t>
            </a:r>
          </a:p>
          <a:p>
            <a:pPr lvl="1"/>
            <a:r>
              <a:rPr lang="en-US" sz="1500" dirty="0"/>
              <a:t>Calculated Metrics:</a:t>
            </a:r>
          </a:p>
          <a:p>
            <a:pPr lvl="2"/>
            <a:r>
              <a:rPr lang="en-US" sz="1500" b="1" dirty="0" err="1"/>
              <a:t>placement_flag</a:t>
            </a:r>
            <a:r>
              <a:rPr lang="en-US" sz="1500" b="1" dirty="0"/>
              <a:t> (1 = Placed, 0 = Not Placed)</a:t>
            </a:r>
            <a:endParaRPr lang="en-US" sz="1500" dirty="0"/>
          </a:p>
          <a:p>
            <a:pPr lvl="2"/>
            <a:r>
              <a:rPr lang="en-US" sz="1500" b="1" dirty="0"/>
              <a:t>Placement Rate %</a:t>
            </a:r>
            <a:endParaRPr lang="en-US" sz="1500" dirty="0"/>
          </a:p>
          <a:p>
            <a:pPr lvl="2"/>
            <a:r>
              <a:rPr lang="en-US" sz="1500" b="1" dirty="0"/>
              <a:t>Average Salary</a:t>
            </a:r>
            <a:endParaRPr lang="en-US" sz="1500" dirty="0"/>
          </a:p>
          <a:p>
            <a:pPr lvl="2"/>
            <a:r>
              <a:rPr lang="en-US" sz="1500" b="1" dirty="0"/>
              <a:t>Degree-wise Placement Distribution</a:t>
            </a:r>
            <a:endParaRPr lang="en-US" sz="1500" dirty="0"/>
          </a:p>
        </p:txBody>
      </p:sp>
    </p:spTree>
    <p:extLst>
      <p:ext uri="{BB962C8B-B14F-4D97-AF65-F5344CB8AC3E}">
        <p14:creationId xmlns:p14="http://schemas.microsoft.com/office/powerpoint/2010/main" val="388586916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C39DCC1-EFEF-BEAF-C2B8-1AB881318BB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"/>
            <a:ext cx="11353800" cy="941831"/>
          </a:xfrm>
        </p:spPr>
        <p:txBody>
          <a:bodyPr/>
          <a:lstStyle/>
          <a:p>
            <a:r>
              <a:rPr lang="en-US" b="1" dirty="0"/>
              <a:t>💻 Tech Stack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4263795-59C2-C8C4-42AB-E1A39BBA0CD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1792224"/>
            <a:ext cx="12192000" cy="5065775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1500" b="1" dirty="0"/>
              <a:t>Tools:</a:t>
            </a:r>
            <a:endParaRPr lang="en-US" sz="1500" dirty="0"/>
          </a:p>
          <a:p>
            <a:pPr lvl="1"/>
            <a:r>
              <a:rPr lang="en-US" sz="1500" b="1" dirty="0"/>
              <a:t>Excel</a:t>
            </a:r>
            <a:endParaRPr lang="en-US" sz="1500" dirty="0"/>
          </a:p>
          <a:p>
            <a:pPr lvl="2"/>
            <a:r>
              <a:rPr lang="en-US" sz="1500" dirty="0"/>
              <a:t>Data cleaning &amp; preprocessing</a:t>
            </a:r>
          </a:p>
          <a:p>
            <a:pPr lvl="1"/>
            <a:endParaRPr lang="en-US" sz="1500" b="1" dirty="0"/>
          </a:p>
          <a:p>
            <a:pPr lvl="1"/>
            <a:r>
              <a:rPr lang="en-US" sz="1500" b="1" dirty="0"/>
              <a:t>Power Query</a:t>
            </a:r>
          </a:p>
          <a:p>
            <a:pPr lvl="2"/>
            <a:r>
              <a:rPr lang="en-US" sz="1500" b="1" dirty="0"/>
              <a:t>Data Transformation &amp; Shaping</a:t>
            </a:r>
            <a:endParaRPr lang="en-US" sz="1500" dirty="0"/>
          </a:p>
          <a:p>
            <a:pPr lvl="2"/>
            <a:r>
              <a:rPr lang="en-US" sz="1500" dirty="0"/>
              <a:t>Column Standardization</a:t>
            </a:r>
          </a:p>
          <a:p>
            <a:pPr lvl="2"/>
            <a:r>
              <a:rPr lang="en-US" sz="1500" dirty="0"/>
              <a:t>Data Preparation for BI Integration</a:t>
            </a:r>
            <a:endParaRPr lang="en-US" sz="1500" b="1" dirty="0"/>
          </a:p>
          <a:p>
            <a:pPr lvl="1"/>
            <a:endParaRPr lang="en-US" sz="1500" b="1" dirty="0"/>
          </a:p>
          <a:p>
            <a:pPr lvl="1"/>
            <a:r>
              <a:rPr lang="en-US" sz="1500" b="1" dirty="0"/>
              <a:t>Power BI</a:t>
            </a:r>
            <a:r>
              <a:rPr lang="en-US" sz="1500" dirty="0"/>
              <a:t>  </a:t>
            </a:r>
          </a:p>
          <a:p>
            <a:pPr lvl="2"/>
            <a:r>
              <a:rPr lang="en-US" sz="1500" dirty="0"/>
              <a:t>Dashboard &amp; Visualization</a:t>
            </a:r>
          </a:p>
          <a:p>
            <a:pPr lvl="2"/>
            <a:r>
              <a:rPr lang="en-US" sz="1500" b="1" dirty="0"/>
              <a:t>Data Modeling &amp; Relationship Building</a:t>
            </a:r>
            <a:endParaRPr lang="en-US" sz="1500" dirty="0"/>
          </a:p>
          <a:p>
            <a:pPr lvl="2"/>
            <a:r>
              <a:rPr lang="en-US" sz="1500" b="1" dirty="0"/>
              <a:t>DAX (DAX</a:t>
            </a:r>
            <a:r>
              <a:rPr lang="en-US" sz="1500" dirty="0"/>
              <a:t> – KPI Calculations</a:t>
            </a:r>
            <a:r>
              <a:rPr lang="en-US" sz="1500" b="1" dirty="0"/>
              <a:t> Columns &amp; Measures)</a:t>
            </a:r>
            <a:endParaRPr lang="en-US" sz="1500" dirty="0"/>
          </a:p>
          <a:p>
            <a:pPr lvl="2"/>
            <a:r>
              <a:rPr lang="en-US" sz="1500" b="1" dirty="0"/>
              <a:t>Slicers &amp; Dynamic Filtering</a:t>
            </a:r>
            <a:endParaRPr lang="en-US" sz="1500" dirty="0"/>
          </a:p>
          <a:p>
            <a:pPr lvl="1"/>
            <a:endParaRPr lang="en-US" sz="1500" b="1" dirty="0"/>
          </a:p>
          <a:p>
            <a:pPr lvl="1"/>
            <a:r>
              <a:rPr lang="en-US" sz="1500" b="1" dirty="0"/>
              <a:t>PowerPoint</a:t>
            </a:r>
          </a:p>
          <a:p>
            <a:pPr lvl="2"/>
            <a:r>
              <a:rPr lang="en-US" sz="1500" dirty="0"/>
              <a:t>Presentation and final dashboard snapshots</a:t>
            </a:r>
          </a:p>
        </p:txBody>
      </p:sp>
    </p:spTree>
    <p:extLst>
      <p:ext uri="{BB962C8B-B14F-4D97-AF65-F5344CB8AC3E}">
        <p14:creationId xmlns:p14="http://schemas.microsoft.com/office/powerpoint/2010/main" val="397254942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C3242D9-0EA0-24CE-5B23-2DB68C4135A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93C0BC5-4739-A149-88F0-2AE5CB8D457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"/>
            <a:ext cx="11353800" cy="1142999"/>
          </a:xfrm>
        </p:spPr>
        <p:txBody>
          <a:bodyPr/>
          <a:lstStyle/>
          <a:p>
            <a:r>
              <a:rPr lang="en-US" b="1" dirty="0"/>
              <a:t>📈 Methodology &amp; Analysis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20B1733-B0DE-1FB0-9313-E0B5F1492E2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1143000"/>
            <a:ext cx="12192000" cy="5714999"/>
          </a:xfrm>
        </p:spPr>
        <p:txBody>
          <a:bodyPr>
            <a:noAutofit/>
          </a:bodyPr>
          <a:lstStyle/>
          <a:p>
            <a:pPr marL="0" indent="0">
              <a:buNone/>
            </a:pPr>
            <a:r>
              <a:rPr lang="en-US" sz="1400" b="1" dirty="0"/>
              <a:t>Preparation, Process &amp; Analytical Approach:</a:t>
            </a:r>
          </a:p>
          <a:p>
            <a:pPr lvl="1"/>
            <a:r>
              <a:rPr lang="en-US" sz="1400" b="1" dirty="0"/>
              <a:t>Data Preparation &amp; Cleaning:</a:t>
            </a:r>
          </a:p>
          <a:p>
            <a:pPr lvl="2"/>
            <a:r>
              <a:rPr lang="en-US" sz="1400" dirty="0"/>
              <a:t>Removed </a:t>
            </a:r>
            <a:r>
              <a:rPr lang="en-US" sz="1400" b="1" dirty="0"/>
              <a:t>missing and inconsistent values </a:t>
            </a:r>
          </a:p>
          <a:p>
            <a:pPr lvl="2"/>
            <a:r>
              <a:rPr lang="en-US" sz="1400" dirty="0"/>
              <a:t>Standardized </a:t>
            </a:r>
            <a:r>
              <a:rPr lang="en-US" sz="1400" b="1" dirty="0"/>
              <a:t>categorical fields</a:t>
            </a:r>
            <a:endParaRPr lang="en-US" sz="1400" dirty="0"/>
          </a:p>
          <a:p>
            <a:pPr lvl="2"/>
            <a:r>
              <a:rPr lang="en-US" sz="1400" dirty="0"/>
              <a:t>Validated </a:t>
            </a:r>
            <a:r>
              <a:rPr lang="en-US" sz="1400" b="1" dirty="0"/>
              <a:t>salary and placement records</a:t>
            </a:r>
            <a:endParaRPr lang="en-US" sz="1400" dirty="0"/>
          </a:p>
          <a:p>
            <a:pPr lvl="1"/>
            <a:r>
              <a:rPr lang="en-US" sz="1400" b="1" dirty="0"/>
              <a:t>Data Modeling &amp; Integration:</a:t>
            </a:r>
          </a:p>
          <a:p>
            <a:pPr lvl="2"/>
            <a:r>
              <a:rPr lang="en-US" sz="1400" dirty="0"/>
              <a:t>Built an optimized </a:t>
            </a:r>
            <a:r>
              <a:rPr lang="en-US" sz="1400" b="1" dirty="0"/>
              <a:t>data model</a:t>
            </a:r>
            <a:endParaRPr lang="en-US" sz="1400" dirty="0"/>
          </a:p>
          <a:p>
            <a:pPr lvl="2"/>
            <a:r>
              <a:rPr lang="en-US" sz="1400" dirty="0"/>
              <a:t>Established relationships between </a:t>
            </a:r>
            <a:r>
              <a:rPr lang="en-US" sz="1400" b="1" dirty="0"/>
              <a:t>academic and placement dimensions</a:t>
            </a:r>
            <a:endParaRPr lang="en-US" sz="1400" dirty="0"/>
          </a:p>
          <a:p>
            <a:pPr lvl="1"/>
            <a:r>
              <a:rPr lang="en-US" sz="1400" b="1" dirty="0"/>
              <a:t>Feature Engineering:</a:t>
            </a:r>
          </a:p>
          <a:p>
            <a:pPr lvl="2"/>
            <a:r>
              <a:rPr lang="en-US" sz="1400" dirty="0"/>
              <a:t>Created </a:t>
            </a:r>
            <a:r>
              <a:rPr lang="en-US" sz="1400" b="1" dirty="0" err="1"/>
              <a:t>placement_flag</a:t>
            </a:r>
            <a:r>
              <a:rPr lang="en-US" sz="1400" b="1" dirty="0"/>
              <a:t> metric</a:t>
            </a:r>
            <a:endParaRPr lang="en-US" sz="1400" dirty="0"/>
          </a:p>
          <a:p>
            <a:pPr lvl="2"/>
            <a:r>
              <a:rPr lang="en-US" sz="1400" dirty="0"/>
              <a:t>Derived </a:t>
            </a:r>
            <a:r>
              <a:rPr lang="en-US" sz="1400" b="1" dirty="0"/>
              <a:t>Placement Rate %</a:t>
            </a:r>
            <a:endParaRPr lang="en-US" sz="1400" dirty="0"/>
          </a:p>
          <a:p>
            <a:pPr lvl="1"/>
            <a:r>
              <a:rPr lang="en-US" sz="1400" b="1" dirty="0"/>
              <a:t>Visualization Design:</a:t>
            </a:r>
          </a:p>
          <a:p>
            <a:pPr lvl="2"/>
            <a:r>
              <a:rPr lang="en-US" sz="1400" dirty="0"/>
              <a:t>Designed </a:t>
            </a:r>
            <a:r>
              <a:rPr lang="en-US" sz="1400" b="1" dirty="0"/>
              <a:t>KPI Cards for summary metrics</a:t>
            </a:r>
            <a:endParaRPr lang="en-US" sz="1400" dirty="0"/>
          </a:p>
          <a:p>
            <a:pPr lvl="2"/>
            <a:r>
              <a:rPr lang="en-US" sz="1400" dirty="0"/>
              <a:t>Used </a:t>
            </a:r>
            <a:r>
              <a:rPr lang="en-US" sz="1400" b="1" dirty="0"/>
              <a:t>Donut Chart for gender distribution</a:t>
            </a:r>
            <a:endParaRPr lang="en-US" sz="1400" dirty="0"/>
          </a:p>
          <a:p>
            <a:pPr lvl="2"/>
            <a:r>
              <a:rPr lang="en-US" sz="1400" dirty="0"/>
              <a:t>Applied </a:t>
            </a:r>
            <a:r>
              <a:rPr lang="en-US" sz="1400" b="1" dirty="0"/>
              <a:t>Bar &amp; Clustered Charts for specialization and salary insights</a:t>
            </a:r>
            <a:endParaRPr lang="en-US" sz="1400" dirty="0"/>
          </a:p>
          <a:p>
            <a:pPr lvl="2"/>
            <a:r>
              <a:rPr lang="en-US" sz="1400" dirty="0"/>
              <a:t>Implemented </a:t>
            </a:r>
            <a:r>
              <a:rPr lang="en-US" sz="1400" b="1" dirty="0"/>
              <a:t>Interactive slicers for dynamic filtering</a:t>
            </a:r>
            <a:endParaRPr lang="en-US" sz="1400" dirty="0"/>
          </a:p>
          <a:p>
            <a:pPr lvl="1"/>
            <a:r>
              <a:rPr lang="en-US" sz="1400" b="1" dirty="0"/>
              <a:t>Validation &amp; Formatting:</a:t>
            </a:r>
          </a:p>
          <a:p>
            <a:pPr lvl="2"/>
            <a:r>
              <a:rPr lang="en-US" sz="1400" dirty="0"/>
              <a:t>Verified KPI calculations against raw totals</a:t>
            </a:r>
          </a:p>
          <a:p>
            <a:pPr lvl="2"/>
            <a:r>
              <a:rPr lang="en-US" sz="1400" dirty="0"/>
              <a:t>Applied consistent </a:t>
            </a:r>
            <a:r>
              <a:rPr lang="en-US" sz="1400" b="1" dirty="0"/>
              <a:t>dashboard theme and formatting</a:t>
            </a:r>
            <a:endParaRPr lang="en-US" sz="1400" dirty="0"/>
          </a:p>
          <a:p>
            <a:pPr lvl="2"/>
            <a:r>
              <a:rPr lang="en-US" sz="1400" dirty="0"/>
              <a:t>Optimized layout for </a:t>
            </a:r>
            <a:r>
              <a:rPr lang="en-US" sz="1400" b="1" dirty="0"/>
              <a:t>executive readability</a:t>
            </a:r>
            <a:endParaRPr lang="en-US" sz="1400" dirty="0"/>
          </a:p>
        </p:txBody>
      </p:sp>
    </p:spTree>
    <p:extLst>
      <p:ext uri="{BB962C8B-B14F-4D97-AF65-F5344CB8AC3E}">
        <p14:creationId xmlns:p14="http://schemas.microsoft.com/office/powerpoint/2010/main" val="303174468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C8C715E-0444-AD1D-4966-699CF6A54F6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0E14761-4B37-1E7F-C3C8-4E4D85DC973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"/>
            <a:ext cx="12192000" cy="1207007"/>
          </a:xfrm>
        </p:spPr>
        <p:txBody>
          <a:bodyPr/>
          <a:lstStyle/>
          <a:p>
            <a:r>
              <a:rPr lang="en-US" dirty="0"/>
              <a:t>❓ </a:t>
            </a:r>
            <a:r>
              <a:rPr lang="en-US" b="1" dirty="0"/>
              <a:t>Problem Statement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B7CDAD1-5F08-67B4-95A9-725577F13A4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1325880"/>
            <a:ext cx="12192000" cy="5532119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1500" dirty="0"/>
              <a:t>Institutions collect placement data but often lack a </a:t>
            </a:r>
            <a:r>
              <a:rPr lang="en-US" sz="1500" b="1" dirty="0"/>
              <a:t>centralized analytical dashboard</a:t>
            </a:r>
            <a:r>
              <a:rPr lang="en-US" sz="1500" dirty="0"/>
              <a:t> to evaluate performance drivers in a structured manner.</a:t>
            </a:r>
          </a:p>
          <a:p>
            <a:pPr marL="0" indent="0">
              <a:buNone/>
            </a:pPr>
            <a:endParaRPr lang="en-US" sz="1500" dirty="0"/>
          </a:p>
          <a:p>
            <a:pPr marL="0" indent="0">
              <a:buNone/>
            </a:pPr>
            <a:r>
              <a:rPr lang="en-US" sz="1500" dirty="0"/>
              <a:t>This results in limited visibility into:</a:t>
            </a:r>
          </a:p>
          <a:p>
            <a:pPr lvl="1"/>
            <a:r>
              <a:rPr lang="en-US" sz="1500" b="1" dirty="0"/>
              <a:t>Overall placement efficiency and conversion rates</a:t>
            </a:r>
            <a:endParaRPr lang="en-US" sz="1500" dirty="0"/>
          </a:p>
          <a:p>
            <a:pPr lvl="1"/>
            <a:r>
              <a:rPr lang="en-US" sz="1500" b="1" dirty="0"/>
              <a:t>Degree-wise placement contribution and disparities</a:t>
            </a:r>
            <a:endParaRPr lang="en-US" sz="1500" dirty="0"/>
          </a:p>
          <a:p>
            <a:pPr lvl="1"/>
            <a:r>
              <a:rPr lang="en-US" sz="1500" b="1" dirty="0"/>
              <a:t>Specialization-level performance differences</a:t>
            </a:r>
            <a:endParaRPr lang="en-US" sz="1500" dirty="0"/>
          </a:p>
          <a:p>
            <a:pPr lvl="1"/>
            <a:r>
              <a:rPr lang="en-US" sz="1500" b="1" dirty="0"/>
              <a:t>Gender-based salary variations</a:t>
            </a:r>
            <a:endParaRPr lang="en-US" sz="1500" dirty="0"/>
          </a:p>
          <a:p>
            <a:pPr lvl="1"/>
            <a:r>
              <a:rPr lang="en-US" sz="1500" b="1" dirty="0"/>
              <a:t>Academic background impact on salary outcomes</a:t>
            </a:r>
          </a:p>
          <a:p>
            <a:pPr lvl="1"/>
            <a:endParaRPr lang="en-US" sz="1500" dirty="0"/>
          </a:p>
          <a:p>
            <a:pPr marL="0" indent="0">
              <a:buNone/>
            </a:pPr>
            <a:r>
              <a:rPr lang="en-US" sz="1500" b="1" dirty="0"/>
              <a:t>Key Questions :</a:t>
            </a:r>
          </a:p>
          <a:p>
            <a:pPr lvl="1"/>
            <a:r>
              <a:rPr lang="en-US" sz="1500" dirty="0"/>
              <a:t>What is the </a:t>
            </a:r>
            <a:r>
              <a:rPr lang="en-US" sz="1500" b="1" dirty="0"/>
              <a:t>overall placement rate</a:t>
            </a:r>
            <a:r>
              <a:rPr lang="en-US" sz="1500" dirty="0"/>
              <a:t> of the college?</a:t>
            </a:r>
          </a:p>
          <a:p>
            <a:pPr lvl="1"/>
            <a:r>
              <a:rPr lang="en-US" sz="1500" dirty="0"/>
              <a:t>How many students are </a:t>
            </a:r>
            <a:r>
              <a:rPr lang="en-US" sz="1500" b="1" dirty="0"/>
              <a:t>placed vs unplaced</a:t>
            </a:r>
            <a:r>
              <a:rPr lang="en-US" sz="1500" dirty="0"/>
              <a:t>?</a:t>
            </a:r>
          </a:p>
          <a:p>
            <a:pPr lvl="1"/>
            <a:r>
              <a:rPr lang="en-US" sz="1500" dirty="0"/>
              <a:t>Which </a:t>
            </a:r>
            <a:r>
              <a:rPr lang="en-US" sz="1500" b="1" dirty="0"/>
              <a:t>specialization (Marketing &amp; Finance vs Marketing &amp; HR)</a:t>
            </a:r>
            <a:r>
              <a:rPr lang="en-US" sz="1500" dirty="0"/>
              <a:t> delivers stronger placement and salary outcomes?</a:t>
            </a:r>
          </a:p>
          <a:p>
            <a:pPr lvl="1"/>
            <a:r>
              <a:rPr lang="en-US" sz="1500" dirty="0"/>
              <a:t>How does </a:t>
            </a:r>
            <a:r>
              <a:rPr lang="en-US" sz="1500" b="1" dirty="0"/>
              <a:t>degree type (Commerce &amp; Management, Science &amp; Technology, Others)</a:t>
            </a:r>
            <a:r>
              <a:rPr lang="en-US" sz="1500" dirty="0"/>
              <a:t> influence placement success?</a:t>
            </a:r>
          </a:p>
          <a:p>
            <a:pPr lvl="1"/>
            <a:r>
              <a:rPr lang="en-US" sz="1500" dirty="0"/>
              <a:t>Is there a </a:t>
            </a:r>
            <a:r>
              <a:rPr lang="en-US" sz="1500" b="1" dirty="0"/>
              <a:t>gender-based salary gap</a:t>
            </a:r>
            <a:r>
              <a:rPr lang="en-US" sz="1500" dirty="0"/>
              <a:t>?</a:t>
            </a:r>
          </a:p>
          <a:p>
            <a:pPr lvl="1"/>
            <a:r>
              <a:rPr lang="en-US" sz="1500" dirty="0"/>
              <a:t>What are the </a:t>
            </a:r>
            <a:r>
              <a:rPr lang="en-US" sz="1500" b="1" dirty="0"/>
              <a:t>average and maximum salary levels</a:t>
            </a:r>
            <a:r>
              <a:rPr lang="en-US" sz="1500" dirty="0"/>
              <a:t> across segments?</a:t>
            </a:r>
          </a:p>
          <a:p>
            <a:pPr lvl="1"/>
            <a:r>
              <a:rPr lang="en-US" sz="1500" dirty="0"/>
              <a:t>How does </a:t>
            </a:r>
            <a:r>
              <a:rPr lang="en-US" sz="1500" b="1" dirty="0"/>
              <a:t>academic background drive salary performance</a:t>
            </a:r>
            <a:r>
              <a:rPr lang="en-US" sz="1500" dirty="0"/>
              <a:t>?</a:t>
            </a:r>
          </a:p>
          <a:p>
            <a:pPr lvl="1"/>
            <a:r>
              <a:rPr lang="en-US" sz="1500" dirty="0"/>
              <a:t>Which student segments contribute most to overall placement outcomes?</a:t>
            </a:r>
          </a:p>
          <a:p>
            <a:pPr lvl="1"/>
            <a:r>
              <a:rPr lang="en-US" sz="1500" dirty="0"/>
              <a:t>How can these insights help improve </a:t>
            </a:r>
            <a:r>
              <a:rPr lang="en-US" sz="1500" b="1" dirty="0"/>
              <a:t>training focus and placement strategy</a:t>
            </a:r>
            <a:r>
              <a:rPr lang="en-US" sz="1500" dirty="0"/>
              <a:t>?</a:t>
            </a:r>
          </a:p>
        </p:txBody>
      </p:sp>
    </p:spTree>
    <p:extLst>
      <p:ext uri="{BB962C8B-B14F-4D97-AF65-F5344CB8AC3E}">
        <p14:creationId xmlns:p14="http://schemas.microsoft.com/office/powerpoint/2010/main" val="128463463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0D95B95-A278-B684-4FC9-8094BB85624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"/>
            <a:ext cx="12192000" cy="987551"/>
          </a:xfrm>
        </p:spPr>
        <p:txBody>
          <a:bodyPr/>
          <a:lstStyle/>
          <a:p>
            <a:r>
              <a:rPr lang="en-US" dirty="0"/>
              <a:t>💡 </a:t>
            </a:r>
            <a:r>
              <a:rPr lang="en-US" b="1" dirty="0"/>
              <a:t>Key Insights</a:t>
            </a:r>
          </a:p>
        </p:txBody>
      </p:sp>
      <p:sp>
        <p:nvSpPr>
          <p:cNvPr id="4" name="Rectangle 1">
            <a:extLst>
              <a:ext uri="{FF2B5EF4-FFF2-40B4-BE49-F238E27FC236}">
                <a16:creationId xmlns:a16="http://schemas.microsoft.com/office/drawing/2014/main" id="{29B5318A-12FB-991F-94CA-32590DF9D45B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xfrm>
            <a:off x="0" y="1455182"/>
            <a:ext cx="12192000" cy="512294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indent="0">
              <a:buNone/>
            </a:pPr>
            <a:r>
              <a:rPr lang="en-US" sz="1400" b="1" dirty="0"/>
              <a:t>Top Findings:</a:t>
            </a:r>
          </a:p>
          <a:p>
            <a:pPr lvl="1"/>
            <a:r>
              <a:rPr lang="en-US" sz="1400" b="1" dirty="0"/>
              <a:t>~69% placement rate (148 of 215 students)</a:t>
            </a:r>
            <a:endParaRPr lang="en-US" sz="1400" dirty="0"/>
          </a:p>
          <a:p>
            <a:pPr lvl="1"/>
            <a:r>
              <a:rPr lang="en-US" sz="1400" b="1" dirty="0"/>
              <a:t>Marketing &amp; Finance specialization shows stronger placement and salary performance</a:t>
            </a:r>
            <a:endParaRPr lang="en-US" sz="1400" dirty="0"/>
          </a:p>
          <a:p>
            <a:pPr lvl="1"/>
            <a:r>
              <a:rPr lang="en-US" sz="1400" b="1" dirty="0"/>
              <a:t>Science &amp; Technology students achieve highest average salary (~₹0.22M)</a:t>
            </a:r>
            <a:endParaRPr lang="en-US" sz="1400" dirty="0"/>
          </a:p>
          <a:p>
            <a:pPr lvl="1"/>
            <a:r>
              <a:rPr lang="en-US" sz="1400" b="1" dirty="0"/>
              <a:t>Commerce &amp; Management has highest student participation (145 students)</a:t>
            </a:r>
            <a:endParaRPr lang="en-US" sz="1400" dirty="0"/>
          </a:p>
          <a:p>
            <a:pPr lvl="1"/>
            <a:r>
              <a:rPr lang="en-US" sz="1400" b="1" dirty="0"/>
              <a:t>Male students show higher average salary compared to female students</a:t>
            </a:r>
            <a:endParaRPr lang="en-US" sz="1400" dirty="0"/>
          </a:p>
          <a:p>
            <a:pPr lvl="1"/>
            <a:r>
              <a:rPr lang="en-US" sz="1400" b="1" dirty="0"/>
              <a:t>Clear positive relationship between academic background and salary</a:t>
            </a:r>
            <a:endParaRPr lang="en-US" sz="1400" dirty="0"/>
          </a:p>
          <a:p>
            <a:pPr marL="0" indent="0">
              <a:buNone/>
            </a:pPr>
            <a:endParaRPr lang="en-US" sz="1400" b="1" dirty="0"/>
          </a:p>
          <a:p>
            <a:pPr marL="0" indent="0">
              <a:buNone/>
            </a:pPr>
            <a:endParaRPr lang="en-US" sz="1400" b="1" dirty="0"/>
          </a:p>
          <a:p>
            <a:pPr marL="0" indent="0">
              <a:buNone/>
            </a:pPr>
            <a:r>
              <a:rPr lang="en-US" sz="1400" b="1" dirty="0"/>
              <a:t>Supporting Metrics:</a:t>
            </a:r>
          </a:p>
          <a:p>
            <a:pPr lvl="1"/>
            <a:r>
              <a:rPr lang="en-US" sz="1400" b="1" dirty="0"/>
              <a:t>Total Students: 215</a:t>
            </a:r>
            <a:endParaRPr lang="en-US" sz="1400" dirty="0"/>
          </a:p>
          <a:p>
            <a:pPr lvl="1"/>
            <a:r>
              <a:rPr lang="en-US" sz="1400" b="1" dirty="0"/>
              <a:t>Placed Students: 148</a:t>
            </a:r>
            <a:endParaRPr lang="en-US" sz="1400" dirty="0"/>
          </a:p>
          <a:p>
            <a:pPr lvl="1"/>
            <a:r>
              <a:rPr lang="en-US" sz="1400" b="1" dirty="0"/>
              <a:t>Unplaced Students: 67</a:t>
            </a:r>
            <a:endParaRPr lang="en-US" sz="1400" dirty="0"/>
          </a:p>
          <a:p>
            <a:pPr lvl="1"/>
            <a:r>
              <a:rPr lang="en-US" sz="1400" b="1" dirty="0"/>
              <a:t>Placement Rate: 68.84%</a:t>
            </a:r>
            <a:endParaRPr lang="en-US" sz="1400" dirty="0"/>
          </a:p>
          <a:p>
            <a:pPr lvl="1"/>
            <a:r>
              <a:rPr lang="en-US" sz="1400" b="1" dirty="0"/>
              <a:t>Average Salary: ₹198.70K</a:t>
            </a:r>
            <a:endParaRPr lang="en-US" sz="1400" dirty="0"/>
          </a:p>
          <a:p>
            <a:pPr lvl="1"/>
            <a:r>
              <a:rPr lang="en-US" sz="1400" b="1" dirty="0"/>
              <a:t>Maximum Salary: ₹940K</a:t>
            </a:r>
            <a:endParaRPr lang="en-US" sz="1400" dirty="0"/>
          </a:p>
          <a:p>
            <a:pPr lvl="1"/>
            <a:r>
              <a:rPr lang="en-US" sz="1400" b="1" dirty="0"/>
              <a:t>Commerce &amp; Management: 145 students</a:t>
            </a:r>
            <a:endParaRPr lang="en-US" sz="1400" dirty="0"/>
          </a:p>
          <a:p>
            <a:pPr lvl="1"/>
            <a:r>
              <a:rPr lang="en-US" sz="1400" b="1" dirty="0"/>
              <a:t>Science &amp; Technology: 59 students</a:t>
            </a:r>
            <a:endParaRPr lang="en-US" sz="1400" dirty="0"/>
          </a:p>
          <a:p>
            <a:pPr lvl="1"/>
            <a:r>
              <a:rPr lang="en-US" sz="1400" b="1" dirty="0"/>
              <a:t>Others: 11 students</a:t>
            </a:r>
            <a:endParaRPr lang="en-US" sz="1400" dirty="0"/>
          </a:p>
        </p:txBody>
      </p:sp>
    </p:spTree>
    <p:extLst>
      <p:ext uri="{BB962C8B-B14F-4D97-AF65-F5344CB8AC3E}">
        <p14:creationId xmlns:p14="http://schemas.microsoft.com/office/powerpoint/2010/main" val="207724771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065CE0C-54D2-7349-734F-B587D8FCF4B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7A992A1-F9DD-1113-176F-5FE70FD8C1C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67377"/>
            <a:ext cx="12192000" cy="1623311"/>
          </a:xfrm>
        </p:spPr>
        <p:txBody>
          <a:bodyPr/>
          <a:lstStyle/>
          <a:p>
            <a:r>
              <a:rPr lang="en-US" dirty="0"/>
              <a:t>📍 </a:t>
            </a:r>
            <a:r>
              <a:rPr lang="en-US" b="1" dirty="0"/>
              <a:t>Conclusion</a:t>
            </a:r>
          </a:p>
        </p:txBody>
      </p:sp>
      <p:sp>
        <p:nvSpPr>
          <p:cNvPr id="4" name="Rectangle 1">
            <a:extLst>
              <a:ext uri="{FF2B5EF4-FFF2-40B4-BE49-F238E27FC236}">
                <a16:creationId xmlns:a16="http://schemas.microsoft.com/office/drawing/2014/main" id="{330464BE-C5CF-897D-627B-77E0E3831DE2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xfrm>
            <a:off x="0" y="1541094"/>
            <a:ext cx="12191998" cy="405752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indent="0">
              <a:buNone/>
            </a:pPr>
            <a:r>
              <a:rPr lang="en-US" sz="1500" b="1" dirty="0"/>
              <a:t>Summary:</a:t>
            </a:r>
            <a:br>
              <a:rPr lang="en-US" sz="1500" dirty="0"/>
            </a:br>
            <a:endParaRPr lang="en-US" sz="1500" dirty="0"/>
          </a:p>
          <a:p>
            <a:pPr marL="0" indent="0">
              <a:buNone/>
            </a:pPr>
            <a:r>
              <a:rPr lang="en-US" sz="1500" dirty="0"/>
              <a:t>The placement analysis of </a:t>
            </a:r>
            <a:r>
              <a:rPr lang="en-US" sz="1500" b="1" dirty="0"/>
              <a:t>Academy for Business Careers, Data &amp; Entrepreneurship (ABCDE)</a:t>
            </a:r>
            <a:r>
              <a:rPr lang="en-US" sz="1500" dirty="0"/>
              <a:t> reveals clear and measurable trends in student performance and employment outcomes.</a:t>
            </a:r>
          </a:p>
          <a:p>
            <a:pPr lvl="1"/>
            <a:endParaRPr lang="en-US" sz="1500" b="1" dirty="0"/>
          </a:p>
          <a:p>
            <a:pPr lvl="1"/>
            <a:r>
              <a:rPr lang="en-US" sz="1500" b="1" dirty="0"/>
              <a:t>Science &amp; Technology students achieve the strongest salary outcomes</a:t>
            </a:r>
            <a:r>
              <a:rPr lang="en-US" sz="1500" dirty="0"/>
              <a:t>, while </a:t>
            </a:r>
            <a:r>
              <a:rPr lang="en-US" sz="1500" b="1" dirty="0"/>
              <a:t>Commerce &amp; Management has the highest student participation</a:t>
            </a:r>
            <a:r>
              <a:rPr lang="en-US" sz="1500" dirty="0"/>
              <a:t>. A clear performance gap is visible across degree types.</a:t>
            </a:r>
          </a:p>
          <a:p>
            <a:pPr marL="457200" lvl="1" indent="0">
              <a:buNone/>
            </a:pPr>
            <a:endParaRPr lang="en-US" sz="1500" b="1" dirty="0"/>
          </a:p>
          <a:p>
            <a:pPr lvl="1"/>
            <a:r>
              <a:rPr lang="en-US" sz="1500" b="1" dirty="0"/>
              <a:t>Specialization and gender influence placement and salary outcomes</a:t>
            </a:r>
            <a:r>
              <a:rPr lang="en-US" sz="1500" dirty="0"/>
              <a:t>, with </a:t>
            </a:r>
            <a:r>
              <a:rPr lang="en-US" sz="1500" b="1" dirty="0"/>
              <a:t>Marketing &amp; Finance demonstrating stronger placement efficiency and higher salary performance</a:t>
            </a:r>
            <a:r>
              <a:rPr lang="en-US" sz="1500" dirty="0"/>
              <a:t> compared to other specializations.</a:t>
            </a:r>
          </a:p>
          <a:p>
            <a:pPr lvl="1"/>
            <a:endParaRPr lang="en-US" sz="1500" dirty="0"/>
          </a:p>
          <a:p>
            <a:pPr lvl="1"/>
            <a:r>
              <a:rPr lang="en-US" sz="1500" dirty="0"/>
              <a:t>The interactive dashboard provides a </a:t>
            </a:r>
            <a:r>
              <a:rPr lang="en-US" sz="1500" b="1" dirty="0"/>
              <a:t>comprehensive, data-driven view of placement performance</a:t>
            </a:r>
            <a:r>
              <a:rPr lang="en-US" sz="1500" dirty="0"/>
              <a:t>, enabling administrators to refine training strategies, align curriculum with industry demands, and identify improvement areas across student segments.</a:t>
            </a:r>
          </a:p>
          <a:p>
            <a:pPr lvl="1"/>
            <a:endParaRPr lang="en-US" sz="1500" dirty="0"/>
          </a:p>
          <a:p>
            <a:pPr lvl="1"/>
            <a:r>
              <a:rPr lang="en-US" sz="1500" dirty="0"/>
              <a:t>Overall, this project demonstrates how </a:t>
            </a:r>
            <a:r>
              <a:rPr lang="en-US" sz="1500" b="1" dirty="0"/>
              <a:t>structured analytics and visualization can strengthen institutional decision-making, improve placement strategies, and enhance student career outcomes.</a:t>
            </a:r>
            <a:endParaRPr lang="en-US" sz="1500" dirty="0"/>
          </a:p>
        </p:txBody>
      </p:sp>
    </p:spTree>
    <p:extLst>
      <p:ext uri="{BB962C8B-B14F-4D97-AF65-F5344CB8AC3E}">
        <p14:creationId xmlns:p14="http://schemas.microsoft.com/office/powerpoint/2010/main" val="56495701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E9204B8-5813-9B83-C88B-8F06397BF62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"/>
            <a:ext cx="12192000" cy="1009649"/>
          </a:xfrm>
        </p:spPr>
        <p:txBody>
          <a:bodyPr/>
          <a:lstStyle/>
          <a:p>
            <a:r>
              <a:rPr lang="en-US" dirty="0"/>
              <a:t>🖥️</a:t>
            </a:r>
            <a:r>
              <a:rPr lang="en-US" b="1" dirty="0"/>
              <a:t>Dashboard Overview</a:t>
            </a:r>
            <a:endParaRPr lang="en-US" dirty="0"/>
          </a:p>
        </p:txBody>
      </p:sp>
      <p:pic>
        <p:nvPicPr>
          <p:cNvPr id="6" name="Content Placeholder 5">
            <a:extLst>
              <a:ext uri="{FF2B5EF4-FFF2-40B4-BE49-F238E27FC236}">
                <a16:creationId xmlns:a16="http://schemas.microsoft.com/office/drawing/2014/main" id="{00680FB1-2DE0-4693-7907-5D6361F6506F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009650"/>
            <a:ext cx="12192000" cy="584834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4321906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F05DE8A-8221-E7CC-409D-5614E40B25C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1362456"/>
            <a:ext cx="12192000" cy="5495544"/>
          </a:xfrm>
        </p:spPr>
        <p:txBody>
          <a:bodyPr>
            <a:normAutofit/>
          </a:bodyPr>
          <a:lstStyle/>
          <a:p>
            <a:pPr lvl="1"/>
            <a:r>
              <a:rPr lang="en-US" sz="1500" b="1" dirty="0"/>
              <a:t>College Administration &amp; Management:</a:t>
            </a:r>
            <a:br>
              <a:rPr lang="en-US" sz="1500" dirty="0"/>
            </a:br>
            <a:r>
              <a:rPr lang="en-US" sz="1500" dirty="0"/>
              <a:t>Leverage placement analytics to evaluate program performance, identify academic strengths and gaps, and plan strategic improvements in training and curriculum.</a:t>
            </a:r>
          </a:p>
          <a:p>
            <a:pPr lvl="1"/>
            <a:endParaRPr lang="en-US" sz="1500" dirty="0"/>
          </a:p>
          <a:p>
            <a:pPr lvl="1"/>
            <a:r>
              <a:rPr lang="en-US" sz="1500" b="1" dirty="0"/>
              <a:t>Training &amp; Placement Cell:</a:t>
            </a:r>
            <a:br>
              <a:rPr lang="en-US" sz="1500" dirty="0"/>
            </a:br>
            <a:r>
              <a:rPr lang="en-US" sz="1500" dirty="0"/>
              <a:t>Use data-driven insights to monitor placement trends, target underperforming student groups, and strengthen industry partnerships through transparent reporting.</a:t>
            </a:r>
          </a:p>
          <a:p>
            <a:pPr lvl="1"/>
            <a:endParaRPr lang="en-US" sz="1500" dirty="0"/>
          </a:p>
          <a:p>
            <a:pPr lvl="1"/>
            <a:r>
              <a:rPr lang="en-US" sz="1500" b="1" dirty="0"/>
              <a:t>Faculty &amp; Academic Departments:</a:t>
            </a:r>
            <a:br>
              <a:rPr lang="en-US" sz="1500" dirty="0"/>
            </a:br>
            <a:r>
              <a:rPr lang="en-US" sz="1500" dirty="0"/>
              <a:t>Understand how academic background and specialization influence placement outcomes, guiding curriculum updates and mentorship strategies.</a:t>
            </a:r>
          </a:p>
          <a:p>
            <a:pPr lvl="1"/>
            <a:endParaRPr lang="en-US" sz="1500" dirty="0"/>
          </a:p>
          <a:p>
            <a:pPr lvl="1"/>
            <a:r>
              <a:rPr lang="en-US" sz="1500" b="1" dirty="0"/>
              <a:t>Students &amp; Career Advisors:</a:t>
            </a:r>
            <a:br>
              <a:rPr lang="en-US" sz="1500" dirty="0"/>
            </a:br>
            <a:r>
              <a:rPr lang="en-US" sz="1500" dirty="0"/>
              <a:t>Gain awareness of how CGPA, specialization, and skill development affect placement chances and salary expectations, helping tailor preparation plans.</a:t>
            </a:r>
          </a:p>
          <a:p>
            <a:pPr lvl="1"/>
            <a:endParaRPr lang="en-US" sz="1500" dirty="0"/>
          </a:p>
          <a:p>
            <a:pPr lvl="1"/>
            <a:r>
              <a:rPr lang="en-US" sz="1500" b="1" dirty="0"/>
              <a:t>Recruiters &amp; Industry Partners:</a:t>
            </a:r>
            <a:br>
              <a:rPr lang="en-US" sz="1500" dirty="0"/>
            </a:br>
            <a:r>
              <a:rPr lang="en-US" sz="1500" dirty="0"/>
              <a:t>Access data-supported insights on student quality, academic diversity, and performance trends to optimize recruitment strategies and hiring pipelines.</a:t>
            </a:r>
          </a:p>
          <a:p>
            <a:pPr lvl="1"/>
            <a:endParaRPr lang="en-US" sz="1500" dirty="0"/>
          </a:p>
        </p:txBody>
      </p:sp>
      <p:sp>
        <p:nvSpPr>
          <p:cNvPr id="4" name="Rectangle 1">
            <a:extLst>
              <a:ext uri="{FF2B5EF4-FFF2-40B4-BE49-F238E27FC236}">
                <a16:creationId xmlns:a16="http://schemas.microsoft.com/office/drawing/2014/main" id="{05B13908-EFB8-3EB9-D2D0-C74A96BEBA8C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 bwMode="auto">
          <a:xfrm>
            <a:off x="0" y="163879"/>
            <a:ext cx="12192000" cy="76944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b="1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</a:rPr>
              <a:t>✅ Business Impact &amp; Use Cases</a:t>
            </a:r>
            <a:endParaRPr kumimoji="0" lang="en-US" altLang="en-US" b="1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</a:endParaRPr>
          </a:p>
        </p:txBody>
      </p:sp>
    </p:spTree>
    <p:extLst>
      <p:ext uri="{BB962C8B-B14F-4D97-AF65-F5344CB8AC3E}">
        <p14:creationId xmlns:p14="http://schemas.microsoft.com/office/powerpoint/2010/main" val="275431888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F42DD15-8D6C-168C-0506-20B101844E3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C11772A-CDAE-646F-C3D7-ABADB6EE1F2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1362456"/>
            <a:ext cx="12192000" cy="5495544"/>
          </a:xfrm>
        </p:spPr>
        <p:txBody>
          <a:bodyPr>
            <a:normAutofit fontScale="92500" lnSpcReduction="20000"/>
          </a:bodyPr>
          <a:lstStyle/>
          <a:p>
            <a:pPr lvl="1"/>
            <a:r>
              <a:rPr lang="en-US" sz="1500" b="1" dirty="0"/>
              <a:t>College Administration &amp; Management</a:t>
            </a:r>
            <a:endParaRPr lang="en-US" sz="1500" dirty="0"/>
          </a:p>
          <a:p>
            <a:pPr lvl="2"/>
            <a:r>
              <a:rPr lang="en-US" sz="1500" dirty="0"/>
              <a:t>Leverage placement analytics to evaluate </a:t>
            </a:r>
            <a:r>
              <a:rPr lang="en-US" sz="1500" b="1" dirty="0"/>
              <a:t>program-level performance</a:t>
            </a:r>
            <a:endParaRPr lang="en-US" sz="1500" dirty="0"/>
          </a:p>
          <a:p>
            <a:pPr lvl="2"/>
            <a:r>
              <a:rPr lang="en-US" sz="1500" dirty="0"/>
              <a:t>Identify </a:t>
            </a:r>
            <a:r>
              <a:rPr lang="en-US" sz="1500" b="1" dirty="0"/>
              <a:t>academic strengths and gap areas</a:t>
            </a:r>
            <a:endParaRPr lang="en-US" sz="1500" dirty="0"/>
          </a:p>
          <a:p>
            <a:pPr lvl="2"/>
            <a:r>
              <a:rPr lang="en-US" sz="1500" dirty="0"/>
              <a:t>Plan </a:t>
            </a:r>
            <a:r>
              <a:rPr lang="en-US" sz="1500" b="1" dirty="0"/>
              <a:t>strategic improvements in curriculum and training initiatives</a:t>
            </a:r>
            <a:endParaRPr lang="en-US" sz="1500" dirty="0"/>
          </a:p>
          <a:p>
            <a:pPr lvl="1"/>
            <a:endParaRPr lang="en-US" sz="1500" b="1" dirty="0"/>
          </a:p>
          <a:p>
            <a:pPr lvl="1"/>
            <a:r>
              <a:rPr lang="en-US" sz="1500" b="1" dirty="0"/>
              <a:t>Training &amp; Placement Cell</a:t>
            </a:r>
            <a:endParaRPr lang="en-US" sz="1500" dirty="0"/>
          </a:p>
          <a:p>
            <a:pPr lvl="2"/>
            <a:r>
              <a:rPr lang="en-US" sz="1500" dirty="0"/>
              <a:t>Monitor </a:t>
            </a:r>
            <a:r>
              <a:rPr lang="en-US" sz="1500" b="1" dirty="0"/>
              <a:t>placement trends and conversion rates</a:t>
            </a:r>
            <a:endParaRPr lang="en-US" sz="1500" dirty="0"/>
          </a:p>
          <a:p>
            <a:pPr lvl="2"/>
            <a:r>
              <a:rPr lang="en-US" sz="1500" dirty="0"/>
              <a:t>Target </a:t>
            </a:r>
            <a:r>
              <a:rPr lang="en-US" sz="1500" b="1" dirty="0"/>
              <a:t>underperforming student segments and specializations</a:t>
            </a:r>
            <a:endParaRPr lang="en-US" sz="1500" dirty="0"/>
          </a:p>
          <a:p>
            <a:pPr lvl="2"/>
            <a:r>
              <a:rPr lang="en-US" sz="1500" dirty="0"/>
              <a:t>Strengthen </a:t>
            </a:r>
            <a:r>
              <a:rPr lang="en-US" sz="1500" b="1" dirty="0"/>
              <a:t>industry partnerships through data-backed reporting</a:t>
            </a:r>
            <a:endParaRPr lang="en-US" sz="1500" dirty="0"/>
          </a:p>
          <a:p>
            <a:pPr lvl="1"/>
            <a:endParaRPr lang="en-US" sz="1500" b="1" dirty="0"/>
          </a:p>
          <a:p>
            <a:pPr lvl="1"/>
            <a:r>
              <a:rPr lang="en-US" sz="1500" b="1" dirty="0"/>
              <a:t>Faculty &amp; Academic Departments</a:t>
            </a:r>
            <a:endParaRPr lang="en-US" sz="1500" dirty="0"/>
          </a:p>
          <a:p>
            <a:pPr lvl="2"/>
            <a:r>
              <a:rPr lang="en-US" sz="1500" dirty="0"/>
              <a:t>Understand how </a:t>
            </a:r>
            <a:r>
              <a:rPr lang="en-US" sz="1500" b="1" dirty="0"/>
              <a:t>degree type and specialization influence placement outcomes</a:t>
            </a:r>
            <a:endParaRPr lang="en-US" sz="1500" dirty="0"/>
          </a:p>
          <a:p>
            <a:pPr lvl="2"/>
            <a:r>
              <a:rPr lang="en-US" sz="1500" dirty="0"/>
              <a:t>Align curriculum with </a:t>
            </a:r>
            <a:r>
              <a:rPr lang="en-US" sz="1500" b="1" dirty="0"/>
              <a:t>high-performing academic domains</a:t>
            </a:r>
            <a:endParaRPr lang="en-US" sz="1500" dirty="0"/>
          </a:p>
          <a:p>
            <a:pPr lvl="2"/>
            <a:r>
              <a:rPr lang="en-US" sz="1500" dirty="0"/>
              <a:t>Guide mentorship using </a:t>
            </a:r>
            <a:r>
              <a:rPr lang="en-US" sz="1500" b="1" dirty="0"/>
              <a:t>performance-based insights</a:t>
            </a:r>
            <a:endParaRPr lang="en-US" sz="1500" dirty="0"/>
          </a:p>
          <a:p>
            <a:pPr lvl="1"/>
            <a:endParaRPr lang="en-US" sz="1500" b="1" dirty="0"/>
          </a:p>
          <a:p>
            <a:pPr lvl="1"/>
            <a:r>
              <a:rPr lang="en-US" sz="1500" b="1" dirty="0"/>
              <a:t>Students &amp; Career Advisors</a:t>
            </a:r>
            <a:endParaRPr lang="en-US" sz="1500" dirty="0"/>
          </a:p>
          <a:p>
            <a:pPr lvl="2"/>
            <a:r>
              <a:rPr lang="en-US" sz="1500" dirty="0"/>
              <a:t>Understand how </a:t>
            </a:r>
            <a:r>
              <a:rPr lang="en-US" sz="1500" b="1" dirty="0"/>
              <a:t>specialization, and academic background impact salary outcomes</a:t>
            </a:r>
            <a:endParaRPr lang="en-US" sz="1500" dirty="0"/>
          </a:p>
          <a:p>
            <a:pPr lvl="2"/>
            <a:r>
              <a:rPr lang="en-US" sz="1500" dirty="0"/>
              <a:t>Make informed decisions about </a:t>
            </a:r>
            <a:r>
              <a:rPr lang="en-US" sz="1500" b="1" dirty="0"/>
              <a:t>career focus and skill development</a:t>
            </a:r>
            <a:endParaRPr lang="en-US" sz="1500" dirty="0"/>
          </a:p>
          <a:p>
            <a:pPr lvl="2"/>
            <a:r>
              <a:rPr lang="en-US" sz="1500" dirty="0"/>
              <a:t>Set realistic expectations regarding </a:t>
            </a:r>
            <a:r>
              <a:rPr lang="en-US" sz="1500" b="1" dirty="0"/>
              <a:t>placement and compensation trends</a:t>
            </a:r>
            <a:endParaRPr lang="en-US" sz="1500" dirty="0"/>
          </a:p>
          <a:p>
            <a:pPr lvl="1"/>
            <a:endParaRPr lang="en-US" sz="1500" b="1" dirty="0"/>
          </a:p>
          <a:p>
            <a:pPr lvl="1"/>
            <a:r>
              <a:rPr lang="en-US" sz="1500" b="1" dirty="0"/>
              <a:t>Recruiters &amp; Industry Partners</a:t>
            </a:r>
            <a:endParaRPr lang="en-US" sz="1500" dirty="0"/>
          </a:p>
          <a:p>
            <a:pPr lvl="2"/>
            <a:r>
              <a:rPr lang="en-US" sz="1500" dirty="0"/>
              <a:t>Identify </a:t>
            </a:r>
            <a:r>
              <a:rPr lang="en-US" sz="1500" b="1" dirty="0"/>
              <a:t>high-performing academic segments</a:t>
            </a:r>
            <a:endParaRPr lang="en-US" sz="1500" dirty="0"/>
          </a:p>
          <a:p>
            <a:pPr lvl="2"/>
            <a:r>
              <a:rPr lang="en-US" sz="1500" dirty="0"/>
              <a:t>Access data-backed insights on </a:t>
            </a:r>
            <a:r>
              <a:rPr lang="en-US" sz="1500" b="1" dirty="0"/>
              <a:t>student quality and specialization strengths</a:t>
            </a:r>
            <a:endParaRPr lang="en-US" sz="1500" dirty="0"/>
          </a:p>
          <a:p>
            <a:pPr lvl="2"/>
            <a:r>
              <a:rPr lang="en-US" sz="1500" dirty="0"/>
              <a:t>Optimize </a:t>
            </a:r>
            <a:r>
              <a:rPr lang="en-US" sz="1500" b="1" dirty="0"/>
              <a:t>recruitment strategy and hiring pipelines</a:t>
            </a:r>
            <a:endParaRPr lang="en-US" sz="1500" dirty="0"/>
          </a:p>
        </p:txBody>
      </p:sp>
      <p:sp>
        <p:nvSpPr>
          <p:cNvPr id="4" name="Rectangle 1">
            <a:extLst>
              <a:ext uri="{FF2B5EF4-FFF2-40B4-BE49-F238E27FC236}">
                <a16:creationId xmlns:a16="http://schemas.microsoft.com/office/drawing/2014/main" id="{9E9D7EC8-B9CA-B4FE-6353-819CB77BD68D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 bwMode="auto">
          <a:xfrm>
            <a:off x="0" y="163879"/>
            <a:ext cx="12192000" cy="76944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b="1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</a:rPr>
              <a:t>✅ Business Impact &amp; Use Cases</a:t>
            </a:r>
            <a:endParaRPr kumimoji="0" lang="en-US" altLang="en-US" b="1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</a:endParaRPr>
          </a:p>
        </p:txBody>
      </p:sp>
    </p:spTree>
    <p:extLst>
      <p:ext uri="{BB962C8B-B14F-4D97-AF65-F5344CB8AC3E}">
        <p14:creationId xmlns:p14="http://schemas.microsoft.com/office/powerpoint/2010/main" val="134304347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F0F312E-E095-11B1-2E4F-C052CA40883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"/>
            <a:ext cx="12192000" cy="1690688"/>
          </a:xfrm>
        </p:spPr>
        <p:txBody>
          <a:bodyPr/>
          <a:lstStyle/>
          <a:p>
            <a:r>
              <a:rPr lang="en-US" dirty="0"/>
              <a:t>🙏 </a:t>
            </a:r>
            <a:r>
              <a:rPr lang="en-US" b="1" dirty="0"/>
              <a:t>Acknowledgement &amp; Contact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87580AE-97C9-723D-BDEE-EF026E7D1B8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1825624"/>
            <a:ext cx="12192000" cy="5032375"/>
          </a:xfrm>
        </p:spPr>
        <p:txBody>
          <a:bodyPr/>
          <a:lstStyle/>
          <a:p>
            <a:pPr marL="0" indent="0">
              <a:buNone/>
            </a:pPr>
            <a:r>
              <a:rPr lang="en-US" b="1" dirty="0"/>
              <a:t>Project Analyst: </a:t>
            </a:r>
            <a:r>
              <a:rPr lang="en-US" dirty="0"/>
              <a:t>Anik Chakraborty</a:t>
            </a:r>
            <a:br>
              <a:rPr lang="en-US" dirty="0"/>
            </a:br>
            <a:r>
              <a:rPr lang="en-US" dirty="0"/>
              <a:t>		📧 Email: anikc1710@gmail.com</a:t>
            </a:r>
          </a:p>
          <a:p>
            <a:pPr marL="0" indent="0">
              <a:buNone/>
            </a:pPr>
            <a:endParaRPr lang="en-US" b="1" dirty="0"/>
          </a:p>
          <a:p>
            <a:pPr marL="0" indent="0">
              <a:buNone/>
            </a:pPr>
            <a:r>
              <a:rPr lang="en-US" b="1" dirty="0"/>
              <a:t>Special Thanks To:</a:t>
            </a:r>
            <a:endParaRPr lang="en-US" dirty="0"/>
          </a:p>
          <a:p>
            <a:pPr lvl="1"/>
            <a:r>
              <a:rPr lang="en-US" b="1" dirty="0"/>
              <a:t>Coding Ninjas</a:t>
            </a:r>
            <a:r>
              <a:rPr lang="en-US" dirty="0"/>
              <a:t> – for project framework and guidance</a:t>
            </a:r>
          </a:p>
          <a:p>
            <a:pPr marL="0" indent="0">
              <a:buNone/>
            </a:pPr>
            <a:endParaRPr lang="en-US" b="1" dirty="0"/>
          </a:p>
          <a:p>
            <a:pPr marL="0" indent="0">
              <a:buNone/>
            </a:pPr>
            <a:r>
              <a:rPr lang="en-US" b="1" dirty="0"/>
              <a:t>Connect:</a:t>
            </a:r>
            <a:br>
              <a:rPr lang="en-US" dirty="0"/>
            </a:br>
            <a:r>
              <a:rPr lang="en-US" dirty="0">
                <a:hlinkClick r:id="rId2"/>
              </a:rPr>
              <a:t>🔗 GitHub</a:t>
            </a:r>
            <a:r>
              <a:rPr lang="en-US" dirty="0"/>
              <a:t> | </a:t>
            </a:r>
            <a:r>
              <a:rPr lang="en-US" dirty="0">
                <a:hlinkClick r:id="rId3"/>
              </a:rPr>
              <a:t>🔗 LinkedIn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5417250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3A4EABD-1638-7E2F-9F25-4B5A994E873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5349875"/>
          </a:xfrm>
        </p:spPr>
        <p:txBody>
          <a:bodyPr>
            <a:normAutofit/>
          </a:bodyPr>
          <a:lstStyle/>
          <a:p>
            <a:pPr algn="ctr"/>
            <a:r>
              <a:rPr lang="en-US" sz="9600" b="1" dirty="0"/>
              <a:t>Thank You!</a:t>
            </a:r>
            <a:endParaRPr lang="en-US" sz="9600" dirty="0"/>
          </a:p>
        </p:txBody>
      </p:sp>
    </p:spTree>
    <p:extLst>
      <p:ext uri="{BB962C8B-B14F-4D97-AF65-F5344CB8AC3E}">
        <p14:creationId xmlns:p14="http://schemas.microsoft.com/office/powerpoint/2010/main" val="23652292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9685</TotalTime>
  <Words>1217</Words>
  <Application>Microsoft Office PowerPoint</Application>
  <PresentationFormat>Widescreen</PresentationFormat>
  <Paragraphs>189</Paragraphs>
  <Slides>14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8" baseType="lpstr">
      <vt:lpstr>Arial</vt:lpstr>
      <vt:lpstr>Calibri</vt:lpstr>
      <vt:lpstr>Calibri Light</vt:lpstr>
      <vt:lpstr>Office Theme</vt:lpstr>
      <vt:lpstr>Academy for Business Careers, Data &amp; Entrepreneurship (ABCDE) - Placement Analysis</vt:lpstr>
      <vt:lpstr>🎯 Objective</vt:lpstr>
      <vt:lpstr>📘 Project Overview</vt:lpstr>
      <vt:lpstr>🗂️ Data Overview &amp; Schema</vt:lpstr>
      <vt:lpstr>💻 Tech Stack</vt:lpstr>
      <vt:lpstr>📈 Methodology &amp; Analysis</vt:lpstr>
      <vt:lpstr>❓ Problem Statement</vt:lpstr>
      <vt:lpstr>💡 Key Insights</vt:lpstr>
      <vt:lpstr>📍 Conclusion</vt:lpstr>
      <vt:lpstr>🖥️Dashboard Overview</vt:lpstr>
      <vt:lpstr>✅ Business Impact &amp; Use Cases</vt:lpstr>
      <vt:lpstr>✅ Business Impact &amp; Use Cases</vt:lpstr>
      <vt:lpstr>🙏 Acknowledgement &amp; Contact</vt:lpstr>
      <vt:lpstr>Thank You!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Anik Chakraborty</dc:creator>
  <cp:lastModifiedBy>Anik Chakraborty</cp:lastModifiedBy>
  <cp:revision>58</cp:revision>
  <dcterms:created xsi:type="dcterms:W3CDTF">2025-09-09T12:03:39Z</dcterms:created>
  <dcterms:modified xsi:type="dcterms:W3CDTF">2026-04-04T18:17:26Z</dcterms:modified>
</cp:coreProperties>
</file>