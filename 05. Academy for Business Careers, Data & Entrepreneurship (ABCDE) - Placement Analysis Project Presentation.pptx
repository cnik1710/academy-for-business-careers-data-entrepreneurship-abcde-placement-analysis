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5" r:id="rId5"/>
    <p:sldId id="260" r:id="rId6"/>
    <p:sldId id="277" r:id="rId7"/>
    <p:sldId id="278" r:id="rId8"/>
    <p:sldId id="264" r:id="rId9"/>
    <p:sldId id="280" r:id="rId10"/>
    <p:sldId id="266" r:id="rId11"/>
    <p:sldId id="281" r:id="rId12"/>
    <p:sldId id="267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C95-068C-3B43-88D8-E9CDB880A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D26B2-92B4-B808-67B3-27FEC1A62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593E1-B1BC-5CB4-8331-D7E32F4F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31A0-8114-E951-E69B-71BD7797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0FD2A-BDF4-0113-B6F5-E0A1486E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44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AAABB-5ACE-2CCB-FD82-46DAAC10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BE3E-9027-A892-3794-3DA286112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55BDF-8E91-5184-EF9B-A95B9240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DEA5-072E-80F1-80C3-FE312C9B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0EAD3-D7B6-7844-557E-B89E29CB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51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3CA09-0CEF-9665-E2C3-D84FE0DB3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41F0D-841D-5D22-4753-17E6591F2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078B-A0AC-65C4-D192-E0B214B3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5999-1738-4CC6-39C3-7AF3489D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EDDEF-7E03-99D0-F896-D0E33313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065E9-04F0-C3F6-6A9E-A61D39A9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E84DE-23BB-247F-72E7-57A866B438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1C973-FDEE-DFB7-8992-BB84543E5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DE9F4-164A-119B-CCE2-DAF82FCCE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098C4D-75FC-950B-6E19-57C44F1C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6AD81-6D82-C6EC-5813-8C349CB5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6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5E509-7E6F-79A5-A71A-9FEE5351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76EB0-A12C-105A-1529-D725F5BC1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C07A-1128-CD2A-12A2-425722C47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7FA242-5314-56B5-DB18-9CC2AF6E4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33876-9E67-06B7-C143-22E74B152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51318A-EA73-F3AC-CB42-AF838722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1FFF0-1614-6812-2D64-1D393600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759242-4095-573E-630B-745F14F3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76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66E4-3D39-66E0-BB9B-E3A86D125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C402B-E665-51FB-DE1E-F7CCDFC79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CE8EC-58F3-616C-754A-A1E7298FC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D2BC1-A270-F350-BD9B-81ED3B5C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735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7D37E-AED5-7AB5-CD22-2BC6B9D48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A41DB-AFC0-4C66-9E51-1D719A71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20B64-1984-743C-DBD3-A5A8C2B5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007C-3FA7-E993-CD0A-57F301E8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C7942-350D-2AFF-3706-984C4C4BD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F263E-FDF6-5F83-13C6-EBF8E189C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F05310-E2B2-347A-02E2-2B9BD735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DD8DC-2029-246F-1B88-22CBAE44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0C36D-2798-BF05-175A-DEF202E5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54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CD89-9132-ADA2-91AC-77C0C5C2F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BF999-C7A0-E4B9-11E4-44CC395F8F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C211B-6B2C-B9AD-EB21-630603C08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43E14-2BB4-C435-0DBE-ABDB7E26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403E5-7478-E6AD-9609-5582532E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AE6FAB-086E-3147-FC1B-551DF503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52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095FF-A624-D8D7-B8C2-990A0866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F493-EB84-B74F-9F07-60773D052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B3D7B-601F-2698-DCA1-08FA3391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BA7A8-9F0E-4302-779D-8FEFFF20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D65A8-781C-DEB3-FAFE-06746BEE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39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845C3E-7CCC-C648-0D43-EF24FA8363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2315C-54A2-EBD9-245C-11F9A4029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65EA-48E7-A7DD-BE84-CC499648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4FD75-52AA-199F-390C-01BDB738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0AB6D-1078-E23D-16E4-3BD4C065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0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AA4B-462F-188A-1C46-723A15EF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381D4-0C32-F199-9C0C-E05908796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B298D-C4AF-2A6C-D43D-821EFC505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B4F22-9FA3-414B-4D31-6787AB8DB1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A2845-6857-54F3-962B-8B9F18AA2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98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9D83E-E910-9290-37C4-DD2DB0763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271016"/>
            <a:ext cx="11265408" cy="223894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Academy for Business Careers, Data &amp; Entrepreneurship (ABCDE) - Placement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3C9FC-B57D-C06E-4229-BAE4DD7A2B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80959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542C3-3E90-1ECD-9C2C-2EF3B8735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BB1B-94E4-6BBD-983C-6D58B6033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/>
          <a:lstStyle/>
          <a:p>
            <a:r>
              <a:rPr lang="en-US" b="1" dirty="0"/>
              <a:t>🎯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13F40-B3DF-B71E-D855-A70072E4D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7048"/>
            <a:ext cx="12192000" cy="53309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To develop an interactive </a:t>
            </a:r>
            <a:r>
              <a:rPr lang="en-US" sz="1400" b="1" dirty="0"/>
              <a:t>Placement Analytics Dashboard</a:t>
            </a:r>
            <a:r>
              <a:rPr lang="en-US" sz="1400" dirty="0"/>
              <a:t> to evaluate student placement performance and identify key salary drivers at </a:t>
            </a:r>
            <a:r>
              <a:rPr lang="en-US" sz="1400" b="1" dirty="0"/>
              <a:t>Academy for Business Careers, Data &amp; Entrepreneurship (ABCDE)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r>
              <a:rPr lang="en-US" sz="1400" b="1" dirty="0"/>
              <a:t>Project Purpose:</a:t>
            </a:r>
          </a:p>
          <a:p>
            <a:pPr lvl="1"/>
            <a:r>
              <a:rPr lang="en-US" sz="1400" dirty="0"/>
              <a:t>Analyze placement outcomes across </a:t>
            </a:r>
            <a:r>
              <a:rPr lang="en-US" sz="1400" b="1" dirty="0"/>
              <a:t>gender, specialization, degree type, and work experience</a:t>
            </a:r>
            <a:endParaRPr lang="en-US" sz="1400" dirty="0"/>
          </a:p>
          <a:p>
            <a:pPr lvl="1"/>
            <a:r>
              <a:rPr lang="en-US" sz="1400" dirty="0"/>
              <a:t>Identify </a:t>
            </a:r>
            <a:r>
              <a:rPr lang="en-US" sz="1400" b="1" dirty="0"/>
              <a:t>academic and demographic factors</a:t>
            </a:r>
            <a:r>
              <a:rPr lang="en-US" sz="1400" dirty="0"/>
              <a:t> influencing placement success</a:t>
            </a:r>
          </a:p>
          <a:p>
            <a:pPr lvl="1"/>
            <a:r>
              <a:rPr lang="en-US" sz="1400" dirty="0"/>
              <a:t>Examine </a:t>
            </a:r>
            <a:r>
              <a:rPr lang="en-US" sz="1400" b="1" dirty="0"/>
              <a:t>salary distribution and CGPA-to-salary trends</a:t>
            </a:r>
            <a:endParaRPr lang="en-US" sz="1400" dirty="0"/>
          </a:p>
          <a:p>
            <a:pPr lvl="1"/>
            <a:r>
              <a:rPr lang="en-US" sz="1400" dirty="0"/>
              <a:t>Provide </a:t>
            </a:r>
            <a:r>
              <a:rPr lang="en-US" sz="1400" b="1" dirty="0"/>
              <a:t>actionable insights</a:t>
            </a:r>
            <a:r>
              <a:rPr lang="en-US" sz="1400" dirty="0"/>
              <a:t> for institutional improvement</a:t>
            </a:r>
          </a:p>
          <a:p>
            <a:pPr marL="0" indent="0">
              <a:buNone/>
            </a:pPr>
            <a:r>
              <a:rPr lang="en-US" sz="1400" b="1" dirty="0"/>
              <a:t>Key KPIs:</a:t>
            </a:r>
          </a:p>
          <a:p>
            <a:pPr lvl="1"/>
            <a:r>
              <a:rPr lang="en-US" sz="1400" b="1" dirty="0"/>
              <a:t>Total Students: 215</a:t>
            </a:r>
            <a:endParaRPr lang="en-US" sz="1400" dirty="0"/>
          </a:p>
          <a:p>
            <a:pPr lvl="1"/>
            <a:r>
              <a:rPr lang="en-US" sz="1400" b="1" dirty="0"/>
              <a:t>Placed Students: 148</a:t>
            </a:r>
            <a:endParaRPr lang="en-US" sz="1400" dirty="0"/>
          </a:p>
          <a:p>
            <a:pPr lvl="1"/>
            <a:r>
              <a:rPr lang="en-US" sz="1400" b="1" dirty="0"/>
              <a:t>Placement Rate: 68.84%</a:t>
            </a:r>
            <a:endParaRPr lang="en-US" sz="1400" dirty="0"/>
          </a:p>
          <a:p>
            <a:pPr lvl="1"/>
            <a:r>
              <a:rPr lang="en-US" sz="1400" b="1" dirty="0"/>
              <a:t>Average Salary: ₹198.70K</a:t>
            </a:r>
            <a:endParaRPr lang="en-US" sz="1400" dirty="0"/>
          </a:p>
          <a:p>
            <a:pPr lvl="1"/>
            <a:r>
              <a:rPr lang="en-US" sz="1400" b="1" dirty="0"/>
              <a:t>Maximum Salary: ₹940K</a:t>
            </a:r>
            <a:endParaRPr lang="en-US" sz="1400" dirty="0"/>
          </a:p>
          <a:p>
            <a:pPr lvl="1"/>
            <a:r>
              <a:rPr lang="en-US" sz="1400" b="1" dirty="0"/>
              <a:t>Placement Rate by Degree Type &amp; Specialization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Deliverables:</a:t>
            </a:r>
          </a:p>
          <a:p>
            <a:pPr lvl="1"/>
            <a:r>
              <a:rPr lang="en-US" sz="1400" b="1" dirty="0"/>
              <a:t>Interactive Power BI Dashboard</a:t>
            </a:r>
            <a:endParaRPr lang="en-US" sz="1400" dirty="0"/>
          </a:p>
          <a:p>
            <a:pPr lvl="1"/>
            <a:r>
              <a:rPr lang="en-US" sz="1400" b="1" dirty="0"/>
              <a:t>Executive Presentation</a:t>
            </a:r>
            <a:endParaRPr lang="en-US" sz="1400" dirty="0"/>
          </a:p>
          <a:p>
            <a:pPr lvl="1"/>
            <a:r>
              <a:rPr lang="en-US" sz="1400" b="1" dirty="0"/>
              <a:t>Insights &amp; KPI Summary Report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15411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E3D56-EFEF-5B4E-645A-5049E9A5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7EE49-CCAC-EE12-BD11-1F13AE47B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A1A11-0FF6-A7F0-01BB-74766979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4168"/>
            <a:ext cx="12192000" cy="53126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lvl="1"/>
            <a:r>
              <a:rPr lang="en-US" sz="1500" dirty="0"/>
              <a:t>Analyzed </a:t>
            </a:r>
            <a:r>
              <a:rPr lang="en-US" sz="1500" b="1" dirty="0"/>
              <a:t>215 student placement records (AY 2025–26)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Evaluated </a:t>
            </a:r>
            <a:r>
              <a:rPr lang="en-US" sz="1500" b="1" dirty="0"/>
              <a:t>academic metrics – degree type, specialization, CGPA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Assessed </a:t>
            </a:r>
            <a:r>
              <a:rPr lang="en-US" sz="1500" b="1" dirty="0"/>
              <a:t>demographics – gender, work experience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Examined </a:t>
            </a:r>
            <a:r>
              <a:rPr lang="en-US" sz="1500" b="1" dirty="0"/>
              <a:t>placement status and salary outcomes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Demonstrates how </a:t>
            </a:r>
            <a:r>
              <a:rPr lang="en-US" sz="1500" b="1" dirty="0"/>
              <a:t>data analytics empowers institutional decisions</a:t>
            </a:r>
            <a:r>
              <a:rPr lang="en-US" sz="1500" dirty="0"/>
              <a:t> to optimize placement strategies and student performance evaluation.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Built an </a:t>
            </a:r>
            <a:r>
              <a:rPr lang="en-US" sz="1500" b="1" dirty="0"/>
              <a:t>interactive Placement Analytics Dashboard</a:t>
            </a:r>
            <a:r>
              <a:rPr lang="en-US" sz="1500" dirty="0"/>
              <a:t> using Power BI.</a:t>
            </a:r>
            <a:br>
              <a:rPr lang="en-US" sz="1500" dirty="0"/>
            </a:br>
            <a:r>
              <a:rPr lang="en-US" sz="1500" dirty="0"/>
              <a:t>	Key insights derived on:</a:t>
            </a:r>
          </a:p>
          <a:p>
            <a:pPr lvl="2"/>
            <a:r>
              <a:rPr lang="en-US" sz="1500" dirty="0"/>
              <a:t>Overall placement rate and salary distribution</a:t>
            </a:r>
          </a:p>
          <a:p>
            <a:pPr lvl="2"/>
            <a:r>
              <a:rPr lang="en-US" sz="1500" dirty="0"/>
              <a:t>CGPA-to-salary correlation patterns</a:t>
            </a:r>
          </a:p>
          <a:p>
            <a:pPr lvl="2"/>
            <a:r>
              <a:rPr lang="en-US" sz="1500" dirty="0"/>
              <a:t>Gender and background-based placement trends</a:t>
            </a:r>
          </a:p>
          <a:p>
            <a:pPr lvl="2"/>
            <a:r>
              <a:rPr lang="en-US" sz="1500" dirty="0"/>
              <a:t>Specialization-wise salary contributions</a:t>
            </a:r>
            <a:br>
              <a:rPr lang="en-US" sz="1500" dirty="0"/>
            </a:br>
            <a:endParaRPr lang="en-US" sz="1500" dirty="0"/>
          </a:p>
          <a:p>
            <a:pPr lvl="1"/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369211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42B8-FCB3-DE54-632F-6CC30A0A9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64FB5-FC5D-4DBC-581E-311A02C0C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FFFB-3FB5-0006-0EF2-162A6B984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  Institutional placement dataset (simulated academic dataset)</a:t>
            </a:r>
            <a:endParaRPr lang="en-US" sz="1500" dirty="0"/>
          </a:p>
          <a:p>
            <a:pPr lvl="1"/>
            <a:r>
              <a:rPr lang="en-US" sz="1500" b="1" dirty="0"/>
              <a:t>Data Type:  Structured student-level records</a:t>
            </a:r>
            <a:endParaRPr lang="en-US" sz="1500" dirty="0"/>
          </a:p>
          <a:p>
            <a:pPr lvl="1"/>
            <a:r>
              <a:rPr lang="en-US" sz="1500" b="1" dirty="0"/>
              <a:t>Time Period:  Academic Year 2025–26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Type: Student-level unique ID</a:t>
            </a:r>
            <a:endParaRPr lang="en-US" sz="1500" dirty="0"/>
          </a:p>
          <a:p>
            <a:pPr lvl="1"/>
            <a:r>
              <a:rPr lang="en-US" sz="1500" b="1" dirty="0"/>
              <a:t>Total Rows: 215</a:t>
            </a:r>
          </a:p>
          <a:p>
            <a:pPr lvl="1"/>
            <a:r>
              <a:rPr lang="en-US" sz="1500" dirty="0"/>
              <a:t>Categories: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Gender, Work Experience</a:t>
            </a:r>
          </a:p>
          <a:p>
            <a:pPr lvl="2"/>
            <a:r>
              <a:rPr lang="en-US" sz="1500" b="1" dirty="0"/>
              <a:t>Academics:</a:t>
            </a:r>
            <a:r>
              <a:rPr lang="en-US" sz="1500" dirty="0"/>
              <a:t> Degree Type, Specialization, CGPA</a:t>
            </a:r>
          </a:p>
          <a:p>
            <a:pPr lvl="2"/>
            <a:r>
              <a:rPr lang="en-US" sz="1500" b="1" dirty="0"/>
              <a:t>Placement:</a:t>
            </a:r>
            <a:r>
              <a:rPr lang="en-US" sz="1500" dirty="0"/>
              <a:t> Placement Status, Salary</a:t>
            </a:r>
          </a:p>
          <a:p>
            <a:pPr lvl="1"/>
            <a:r>
              <a:rPr lang="en-US" sz="1500" dirty="0"/>
              <a:t>Calculated Metrics:</a:t>
            </a:r>
          </a:p>
          <a:p>
            <a:pPr lvl="2"/>
            <a:r>
              <a:rPr lang="en-US" sz="1500" b="1" dirty="0" err="1"/>
              <a:t>placement_flag</a:t>
            </a:r>
            <a:r>
              <a:rPr lang="en-US" sz="1500" b="1" dirty="0"/>
              <a:t> (1 = Placed, 0 = Not Placed)</a:t>
            </a:r>
            <a:endParaRPr lang="en-US" sz="1500" dirty="0"/>
          </a:p>
          <a:p>
            <a:pPr lvl="2"/>
            <a:r>
              <a:rPr lang="en-US" sz="1500" b="1" dirty="0"/>
              <a:t>Placement Rate %</a:t>
            </a:r>
            <a:endParaRPr lang="en-US" sz="1500" dirty="0"/>
          </a:p>
          <a:p>
            <a:pPr lvl="2"/>
            <a:r>
              <a:rPr lang="en-US" sz="1500" b="1" dirty="0"/>
              <a:t>Average Salary</a:t>
            </a:r>
            <a:endParaRPr lang="en-US" sz="1500" dirty="0"/>
          </a:p>
          <a:p>
            <a:pPr lvl="2"/>
            <a:r>
              <a:rPr lang="en-US" sz="1500" b="1" dirty="0"/>
              <a:t>Degree-wise Placement Distribution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885869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CC1-EFEF-BEAF-C2B8-1AB881318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941831"/>
          </a:xfrm>
        </p:spPr>
        <p:txBody>
          <a:bodyPr/>
          <a:lstStyle/>
          <a:p>
            <a:r>
              <a:rPr lang="en-US" b="1" dirty="0"/>
              <a:t>💻 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63795-59C2-C8C4-42AB-E1A39BBA0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92224"/>
            <a:ext cx="12192000" cy="5065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 Query</a:t>
            </a:r>
          </a:p>
          <a:p>
            <a:pPr lvl="2"/>
            <a:r>
              <a:rPr lang="en-US" sz="1500" b="1" dirty="0"/>
              <a:t>Data Transformation &amp; Shaping</a:t>
            </a:r>
            <a:endParaRPr lang="en-US" sz="1500" dirty="0"/>
          </a:p>
          <a:p>
            <a:pPr lvl="2"/>
            <a:r>
              <a:rPr lang="en-US" sz="1500" dirty="0"/>
              <a:t>Column Standardization</a:t>
            </a:r>
          </a:p>
          <a:p>
            <a:pPr lvl="2"/>
            <a:r>
              <a:rPr lang="en-US" sz="1500" dirty="0"/>
              <a:t>Data Preparation for BI Integration</a:t>
            </a:r>
            <a:endParaRPr lang="en-US" sz="1500" b="1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 BI</a:t>
            </a:r>
            <a:r>
              <a:rPr lang="en-US" sz="1500" dirty="0"/>
              <a:t>  </a:t>
            </a:r>
          </a:p>
          <a:p>
            <a:pPr lvl="2"/>
            <a:r>
              <a:rPr lang="en-US" sz="1500" dirty="0"/>
              <a:t>Dashboard &amp; Visualization</a:t>
            </a:r>
          </a:p>
          <a:p>
            <a:pPr lvl="2"/>
            <a:r>
              <a:rPr lang="en-US" sz="1500" b="1" dirty="0"/>
              <a:t>Data Modeling &amp; Relationship Building</a:t>
            </a:r>
            <a:endParaRPr lang="en-US" sz="1500" dirty="0"/>
          </a:p>
          <a:p>
            <a:pPr lvl="2"/>
            <a:r>
              <a:rPr lang="en-US" sz="1500" b="1" dirty="0"/>
              <a:t>DAX (DAX</a:t>
            </a:r>
            <a:r>
              <a:rPr lang="en-US" sz="1500" dirty="0"/>
              <a:t> – KPI Calculations</a:t>
            </a:r>
            <a:r>
              <a:rPr lang="en-US" sz="1500" b="1" dirty="0"/>
              <a:t> Columns &amp; Measures)</a:t>
            </a:r>
            <a:endParaRPr lang="en-US" sz="1500" dirty="0"/>
          </a:p>
          <a:p>
            <a:pPr lvl="2"/>
            <a:r>
              <a:rPr lang="en-US" sz="1500" b="1" dirty="0"/>
              <a:t>Slicers &amp; Dynamic Filtering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3972549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242D9-0EA0-24CE-5B23-2DB68C413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C0BC5-4739-A149-88F0-2AE5CB8D4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42999"/>
          </a:xfrm>
        </p:spPr>
        <p:txBody>
          <a:bodyPr/>
          <a:lstStyle/>
          <a:p>
            <a:r>
              <a:rPr lang="en-US" b="1" dirty="0"/>
              <a:t>📈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B1733-B0DE-1FB0-9313-E0B5F1492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43000"/>
            <a:ext cx="12192000" cy="571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Removed </a:t>
            </a:r>
            <a:r>
              <a:rPr lang="en-US" sz="1400" b="1" dirty="0"/>
              <a:t>missing and inconsistent values </a:t>
            </a:r>
          </a:p>
          <a:p>
            <a:pPr lvl="2"/>
            <a:r>
              <a:rPr lang="en-US" sz="1400" dirty="0"/>
              <a:t>Standardized </a:t>
            </a:r>
            <a:r>
              <a:rPr lang="en-US" sz="1400" b="1" dirty="0"/>
              <a:t>categorical fields</a:t>
            </a:r>
            <a:endParaRPr lang="en-US" sz="1400" dirty="0"/>
          </a:p>
          <a:p>
            <a:pPr lvl="2"/>
            <a:r>
              <a:rPr lang="en-US" sz="1400" dirty="0"/>
              <a:t>Validated </a:t>
            </a:r>
            <a:r>
              <a:rPr lang="en-US" sz="1400" b="1" dirty="0"/>
              <a:t>salary and placement records</a:t>
            </a:r>
            <a:endParaRPr lang="en-US" sz="1400" dirty="0"/>
          </a:p>
          <a:p>
            <a:pPr lvl="1"/>
            <a:r>
              <a:rPr lang="en-US" sz="1400" b="1" dirty="0"/>
              <a:t>Data Modeling &amp; Integration:</a:t>
            </a:r>
          </a:p>
          <a:p>
            <a:pPr lvl="2"/>
            <a:r>
              <a:rPr lang="en-US" sz="1400" dirty="0"/>
              <a:t>Built an optimized </a:t>
            </a:r>
            <a:r>
              <a:rPr lang="en-US" sz="1400" b="1" dirty="0"/>
              <a:t>data model</a:t>
            </a:r>
            <a:endParaRPr lang="en-US" sz="1400" dirty="0"/>
          </a:p>
          <a:p>
            <a:pPr lvl="2"/>
            <a:r>
              <a:rPr lang="en-US" sz="1400" dirty="0"/>
              <a:t>Established relationships between </a:t>
            </a:r>
            <a:r>
              <a:rPr lang="en-US" sz="1400" b="1" dirty="0"/>
              <a:t>academic and placement dimensions</a:t>
            </a:r>
            <a:endParaRPr lang="en-US" sz="1400" dirty="0"/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Created </a:t>
            </a:r>
            <a:r>
              <a:rPr lang="en-US" sz="1400" b="1" dirty="0" err="1"/>
              <a:t>placement_flag</a:t>
            </a:r>
            <a:r>
              <a:rPr lang="en-US" sz="1400" b="1" dirty="0"/>
              <a:t> metric</a:t>
            </a:r>
            <a:endParaRPr lang="en-US" sz="1400" dirty="0"/>
          </a:p>
          <a:p>
            <a:pPr lvl="2"/>
            <a:r>
              <a:rPr lang="en-US" sz="1400" dirty="0"/>
              <a:t>Derived </a:t>
            </a:r>
            <a:r>
              <a:rPr lang="en-US" sz="1400" b="1" dirty="0"/>
              <a:t>Placement Rate %</a:t>
            </a:r>
            <a:endParaRPr lang="en-US" sz="1400" dirty="0"/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Designed </a:t>
            </a:r>
            <a:r>
              <a:rPr lang="en-US" sz="1400" b="1" dirty="0"/>
              <a:t>KPI Cards for summary metrics</a:t>
            </a:r>
            <a:endParaRPr lang="en-US" sz="1400" dirty="0"/>
          </a:p>
          <a:p>
            <a:pPr lvl="2"/>
            <a:r>
              <a:rPr lang="en-US" sz="1400" dirty="0"/>
              <a:t>Used </a:t>
            </a:r>
            <a:r>
              <a:rPr lang="en-US" sz="1400" b="1" dirty="0"/>
              <a:t>Donut Chart for gender distribution</a:t>
            </a:r>
            <a:endParaRPr lang="en-US" sz="1400" dirty="0"/>
          </a:p>
          <a:p>
            <a:pPr lvl="2"/>
            <a:r>
              <a:rPr lang="en-US" sz="1400" dirty="0"/>
              <a:t>Applied </a:t>
            </a:r>
            <a:r>
              <a:rPr lang="en-US" sz="1400" b="1" dirty="0"/>
              <a:t>Bar &amp; Clustered Charts for specialization and salary insights</a:t>
            </a:r>
            <a:endParaRPr lang="en-US" sz="1400" dirty="0"/>
          </a:p>
          <a:p>
            <a:pPr lvl="2"/>
            <a:r>
              <a:rPr lang="en-US" sz="1400" dirty="0"/>
              <a:t>Implemented </a:t>
            </a:r>
            <a:r>
              <a:rPr lang="en-US" sz="1400" b="1" dirty="0"/>
              <a:t>Interactive slicers for dynamic filtering</a:t>
            </a:r>
            <a:endParaRPr lang="en-US" sz="1400" dirty="0"/>
          </a:p>
          <a:p>
            <a:pPr lvl="1"/>
            <a:r>
              <a:rPr lang="en-US" sz="1400" b="1" dirty="0"/>
              <a:t>Validation &amp; Formatting:</a:t>
            </a:r>
          </a:p>
          <a:p>
            <a:pPr lvl="2"/>
            <a:r>
              <a:rPr lang="en-US" sz="1400" dirty="0"/>
              <a:t>Verified KPI calculations against raw totals</a:t>
            </a:r>
          </a:p>
          <a:p>
            <a:pPr lvl="2"/>
            <a:r>
              <a:rPr lang="en-US" sz="1400" dirty="0"/>
              <a:t>Applied consistent </a:t>
            </a:r>
            <a:r>
              <a:rPr lang="en-US" sz="1400" b="1" dirty="0"/>
              <a:t>dashboard theme and formatting</a:t>
            </a:r>
            <a:endParaRPr lang="en-US" sz="1400" dirty="0"/>
          </a:p>
          <a:p>
            <a:pPr lvl="2"/>
            <a:r>
              <a:rPr lang="en-US" sz="1400" dirty="0"/>
              <a:t>Optimized layout for </a:t>
            </a:r>
            <a:r>
              <a:rPr lang="en-US" sz="1400" b="1" dirty="0"/>
              <a:t>executive readability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31744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C715E-0444-AD1D-4966-699CF6A54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4761-4B37-1E7F-C3C8-4E4D85DC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CDAD1-5F08-67B4-95A9-725577F13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880"/>
            <a:ext cx="12192000" cy="55321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Institutions collect placement data but often lack a </a:t>
            </a:r>
            <a:r>
              <a:rPr lang="en-US" sz="1500" b="1" dirty="0"/>
              <a:t>centralized analytical dashboard</a:t>
            </a:r>
            <a:r>
              <a:rPr lang="en-US" sz="1500" dirty="0"/>
              <a:t> to evaluate performance drivers in a structured manner.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results in limited visibility into:</a:t>
            </a:r>
          </a:p>
          <a:p>
            <a:pPr lvl="1"/>
            <a:r>
              <a:rPr lang="en-US" sz="1500" b="1" dirty="0"/>
              <a:t>Overall placement efficiency and conversion rates</a:t>
            </a:r>
            <a:endParaRPr lang="en-US" sz="1500" dirty="0"/>
          </a:p>
          <a:p>
            <a:pPr lvl="1"/>
            <a:r>
              <a:rPr lang="en-US" sz="1500" b="1" dirty="0"/>
              <a:t>Degree-wise placement contribution and disparities</a:t>
            </a:r>
            <a:endParaRPr lang="en-US" sz="1500" dirty="0"/>
          </a:p>
          <a:p>
            <a:pPr lvl="1"/>
            <a:r>
              <a:rPr lang="en-US" sz="1500" b="1" dirty="0"/>
              <a:t>Specialization-level performance differences</a:t>
            </a:r>
            <a:endParaRPr lang="en-US" sz="1500" dirty="0"/>
          </a:p>
          <a:p>
            <a:pPr lvl="1"/>
            <a:r>
              <a:rPr lang="en-US" sz="1500" b="1" dirty="0"/>
              <a:t>Gender-based salary variations</a:t>
            </a:r>
            <a:endParaRPr lang="en-US" sz="1500" dirty="0"/>
          </a:p>
          <a:p>
            <a:pPr lvl="1"/>
            <a:r>
              <a:rPr lang="en-US" sz="1500" b="1" dirty="0"/>
              <a:t>Academic background impact on salary outcomes</a:t>
            </a:r>
          </a:p>
          <a:p>
            <a:pPr lvl="1"/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Key Questions :</a:t>
            </a:r>
          </a:p>
          <a:p>
            <a:pPr lvl="1"/>
            <a:r>
              <a:rPr lang="en-US" sz="1500" dirty="0"/>
              <a:t>What is the </a:t>
            </a:r>
            <a:r>
              <a:rPr lang="en-US" sz="1500" b="1" dirty="0"/>
              <a:t>overall placement rate</a:t>
            </a:r>
            <a:r>
              <a:rPr lang="en-US" sz="1500" dirty="0"/>
              <a:t> of the college?</a:t>
            </a:r>
          </a:p>
          <a:p>
            <a:pPr lvl="1"/>
            <a:r>
              <a:rPr lang="en-US" sz="1500" dirty="0"/>
              <a:t>How many students are </a:t>
            </a:r>
            <a:r>
              <a:rPr lang="en-US" sz="1500" b="1" dirty="0"/>
              <a:t>placed vs unplaced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specialization (Marketing &amp; Finance vs Marketing &amp; HR)</a:t>
            </a:r>
            <a:r>
              <a:rPr lang="en-US" sz="1500" dirty="0"/>
              <a:t> delivers stronger placement and salary outcomes?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degree type (Commerce &amp; Management, Science &amp; Technology, Others)</a:t>
            </a:r>
            <a:r>
              <a:rPr lang="en-US" sz="1500" dirty="0"/>
              <a:t> influence placement success?</a:t>
            </a:r>
          </a:p>
          <a:p>
            <a:pPr lvl="1"/>
            <a:r>
              <a:rPr lang="en-US" sz="1500" dirty="0"/>
              <a:t>Is there a </a:t>
            </a:r>
            <a:r>
              <a:rPr lang="en-US" sz="1500" b="1" dirty="0"/>
              <a:t>gender-based salary gap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What are the </a:t>
            </a:r>
            <a:r>
              <a:rPr lang="en-US" sz="1500" b="1" dirty="0"/>
              <a:t>average and maximum salary levels</a:t>
            </a:r>
            <a:r>
              <a:rPr lang="en-US" sz="1500" dirty="0"/>
              <a:t> across segments?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academic background drive salary performance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Which student segments contribute most to overall placement outcomes?</a:t>
            </a:r>
          </a:p>
          <a:p>
            <a:pPr lvl="1"/>
            <a:r>
              <a:rPr lang="en-US" sz="1500" dirty="0"/>
              <a:t>How can these insights help improve </a:t>
            </a:r>
            <a:r>
              <a:rPr lang="en-US" sz="1500" b="1" dirty="0"/>
              <a:t>training focus and placement strategy</a:t>
            </a:r>
            <a:r>
              <a:rPr lang="en-US" sz="15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84634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5B95-A278-B684-4FC9-8094BB85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87551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9B5318A-12FB-991F-94CA-32590DF9D4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455182"/>
            <a:ext cx="12192000" cy="5122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400" b="1" dirty="0"/>
              <a:t>Top Findings:</a:t>
            </a:r>
          </a:p>
          <a:p>
            <a:pPr lvl="1"/>
            <a:r>
              <a:rPr lang="en-US" sz="1400" b="1" dirty="0"/>
              <a:t>~69% placement rate (148 of 215 students)</a:t>
            </a:r>
            <a:endParaRPr lang="en-US" sz="1400" dirty="0"/>
          </a:p>
          <a:p>
            <a:pPr lvl="1"/>
            <a:r>
              <a:rPr lang="en-US" sz="1400" b="1" dirty="0"/>
              <a:t>Marketing &amp; Finance specialization shows stronger placement and salary performance</a:t>
            </a:r>
            <a:endParaRPr lang="en-US" sz="1400" dirty="0"/>
          </a:p>
          <a:p>
            <a:pPr lvl="1"/>
            <a:r>
              <a:rPr lang="en-US" sz="1400" b="1" dirty="0"/>
              <a:t>Science &amp; Technology students achieve highest average salary (~₹0.22M)</a:t>
            </a:r>
            <a:endParaRPr lang="en-US" sz="1400" dirty="0"/>
          </a:p>
          <a:p>
            <a:pPr lvl="1"/>
            <a:r>
              <a:rPr lang="en-US" sz="1400" b="1" dirty="0"/>
              <a:t>Commerce &amp; Management has highest student participation (145 students)</a:t>
            </a:r>
            <a:endParaRPr lang="en-US" sz="1400" dirty="0"/>
          </a:p>
          <a:p>
            <a:pPr lvl="1"/>
            <a:r>
              <a:rPr lang="en-US" sz="1400" b="1" dirty="0"/>
              <a:t>Male students show higher average salary compared to female students</a:t>
            </a:r>
            <a:endParaRPr lang="en-US" sz="1400" dirty="0"/>
          </a:p>
          <a:p>
            <a:pPr lvl="1"/>
            <a:r>
              <a:rPr lang="en-US" sz="1400" b="1" dirty="0"/>
              <a:t>Clear positive relationship between academic background and salary</a:t>
            </a:r>
            <a:endParaRPr lang="en-US" sz="1400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Supporting Metrics:</a:t>
            </a:r>
          </a:p>
          <a:p>
            <a:pPr lvl="1"/>
            <a:r>
              <a:rPr lang="en-US" sz="1400" b="1" dirty="0"/>
              <a:t>Total Students: 215</a:t>
            </a:r>
            <a:endParaRPr lang="en-US" sz="1400" dirty="0"/>
          </a:p>
          <a:p>
            <a:pPr lvl="1"/>
            <a:r>
              <a:rPr lang="en-US" sz="1400" b="1" dirty="0"/>
              <a:t>Placed Students: 148</a:t>
            </a:r>
            <a:endParaRPr lang="en-US" sz="1400" dirty="0"/>
          </a:p>
          <a:p>
            <a:pPr lvl="1"/>
            <a:r>
              <a:rPr lang="en-US" sz="1400" b="1" dirty="0"/>
              <a:t>Unplaced Students: 67</a:t>
            </a:r>
            <a:endParaRPr lang="en-US" sz="1400" dirty="0"/>
          </a:p>
          <a:p>
            <a:pPr lvl="1"/>
            <a:r>
              <a:rPr lang="en-US" sz="1400" b="1" dirty="0"/>
              <a:t>Placement Rate: 68.84%</a:t>
            </a:r>
            <a:endParaRPr lang="en-US" sz="1400" dirty="0"/>
          </a:p>
          <a:p>
            <a:pPr lvl="1"/>
            <a:r>
              <a:rPr lang="en-US" sz="1400" b="1" dirty="0"/>
              <a:t>Average Salary: ₹198.70K</a:t>
            </a:r>
            <a:endParaRPr lang="en-US" sz="1400" dirty="0"/>
          </a:p>
          <a:p>
            <a:pPr lvl="1"/>
            <a:r>
              <a:rPr lang="en-US" sz="1400" b="1" dirty="0"/>
              <a:t>Maximum Salary: ₹940K</a:t>
            </a:r>
            <a:endParaRPr lang="en-US" sz="1400" dirty="0"/>
          </a:p>
          <a:p>
            <a:pPr lvl="1"/>
            <a:r>
              <a:rPr lang="en-US" sz="1400" b="1" dirty="0"/>
              <a:t>Commerce &amp; Management: 145 students</a:t>
            </a:r>
            <a:endParaRPr lang="en-US" sz="1400" dirty="0"/>
          </a:p>
          <a:p>
            <a:pPr lvl="1"/>
            <a:r>
              <a:rPr lang="en-US" sz="1400" b="1" dirty="0"/>
              <a:t>Science &amp; Technology: 59 students</a:t>
            </a:r>
            <a:endParaRPr lang="en-US" sz="1400" dirty="0"/>
          </a:p>
          <a:p>
            <a:pPr lvl="1"/>
            <a:r>
              <a:rPr lang="en-US" sz="1400" b="1" dirty="0"/>
              <a:t>Others: 11 students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77247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5CE0C-54D2-7349-734F-B587D8FCF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992A1-F9DD-1113-176F-5FE70FD8C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377"/>
            <a:ext cx="12192000" cy="1623311"/>
          </a:xfrm>
        </p:spPr>
        <p:txBody>
          <a:bodyPr/>
          <a:lstStyle/>
          <a:p>
            <a:r>
              <a:rPr lang="en-US" dirty="0"/>
              <a:t>📍 </a:t>
            </a:r>
            <a:r>
              <a:rPr lang="en-US" b="1" dirty="0"/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0464BE-C5CF-897D-627B-77E0E3831D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541094"/>
            <a:ext cx="12191998" cy="40575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The placement analysis of </a:t>
            </a:r>
            <a:r>
              <a:rPr lang="en-US" sz="1500" b="1" dirty="0"/>
              <a:t>Academy for Business Careers, Data &amp; Entrepreneurship (ABCDE)</a:t>
            </a:r>
            <a:r>
              <a:rPr lang="en-US" sz="1500" dirty="0"/>
              <a:t> reveals clear and measurable trends in student performance and employment outcomes.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Science &amp; Technology students achieve the strongest salary outcomes</a:t>
            </a:r>
            <a:r>
              <a:rPr lang="en-US" sz="1500" dirty="0"/>
              <a:t>, while </a:t>
            </a:r>
            <a:r>
              <a:rPr lang="en-US" sz="1500" b="1" dirty="0"/>
              <a:t>Commerce &amp; Management has the highest student participation</a:t>
            </a:r>
            <a:r>
              <a:rPr lang="en-US" sz="1500" dirty="0"/>
              <a:t>. A clear performance gap is visible across degree types.</a:t>
            </a:r>
          </a:p>
          <a:p>
            <a:pPr marL="457200" lvl="1" indent="0">
              <a:buNone/>
            </a:pPr>
            <a:endParaRPr lang="en-US" sz="1500" b="1" dirty="0"/>
          </a:p>
          <a:p>
            <a:pPr lvl="1"/>
            <a:r>
              <a:rPr lang="en-US" sz="1500" b="1" dirty="0"/>
              <a:t>Specialization and gender influence placement and salary outcomes</a:t>
            </a:r>
            <a:r>
              <a:rPr lang="en-US" sz="1500" dirty="0"/>
              <a:t>, with </a:t>
            </a:r>
            <a:r>
              <a:rPr lang="en-US" sz="1500" b="1" dirty="0"/>
              <a:t>Marketing &amp; Finance demonstrating stronger placement efficiency and higher salary performance</a:t>
            </a:r>
            <a:r>
              <a:rPr lang="en-US" sz="1500" dirty="0"/>
              <a:t> compared to other specializations.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interactive dashboard provides a </a:t>
            </a:r>
            <a:r>
              <a:rPr lang="en-US" sz="1500" b="1" dirty="0"/>
              <a:t>comprehensive, data-driven view of placement performance</a:t>
            </a:r>
            <a:r>
              <a:rPr lang="en-US" sz="1500" dirty="0"/>
              <a:t>, enabling administrators to refine training strategies, align curriculum with industry demands, and identify improvement areas across student segments.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Overall, this project demonstrates how </a:t>
            </a:r>
            <a:r>
              <a:rPr lang="en-US" sz="1500" b="1" dirty="0"/>
              <a:t>structured analytics and visualization can strengthen institutional decision-making, improve placement strategies, and enhance student career outcomes.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564957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04B8-5813-9B83-C88B-8F06397BF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09649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Dashboard Overview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0680FB1-2DE0-4693-7907-5D6361F65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9650"/>
            <a:ext cx="12192000" cy="584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1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2DD15-8D6C-168C-0506-20B101844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1772A-CDAE-646F-C3D7-ABADB6EE1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4"/>
          </a:xfrm>
        </p:spPr>
        <p:txBody>
          <a:bodyPr>
            <a:normAutofit fontScale="92500" lnSpcReduction="20000"/>
          </a:bodyPr>
          <a:lstStyle/>
          <a:p>
            <a:pPr lvl="1"/>
            <a:r>
              <a:rPr lang="en-US" sz="1500" b="1" dirty="0"/>
              <a:t>College Administration &amp; Management</a:t>
            </a:r>
            <a:endParaRPr lang="en-US" sz="1500" dirty="0"/>
          </a:p>
          <a:p>
            <a:pPr lvl="2"/>
            <a:r>
              <a:rPr lang="en-US" sz="1500" dirty="0"/>
              <a:t>Leverage placement analytics to evaluate </a:t>
            </a:r>
            <a:r>
              <a:rPr lang="en-US" sz="1500" b="1" dirty="0"/>
              <a:t>program-level performance</a:t>
            </a:r>
            <a:endParaRPr lang="en-US" sz="1500" dirty="0"/>
          </a:p>
          <a:p>
            <a:pPr lvl="2"/>
            <a:r>
              <a:rPr lang="en-US" sz="1500" dirty="0"/>
              <a:t>Identify </a:t>
            </a:r>
            <a:r>
              <a:rPr lang="en-US" sz="1500" b="1" dirty="0"/>
              <a:t>academic strengths and gap areas</a:t>
            </a:r>
            <a:endParaRPr lang="en-US" sz="1500" dirty="0"/>
          </a:p>
          <a:p>
            <a:pPr lvl="2"/>
            <a:r>
              <a:rPr lang="en-US" sz="1500" dirty="0"/>
              <a:t>Plan </a:t>
            </a:r>
            <a:r>
              <a:rPr lang="en-US" sz="1500" b="1" dirty="0"/>
              <a:t>strategic improvements in curriculum and training initiatives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Training &amp; Placement Cell</a:t>
            </a:r>
            <a:endParaRPr lang="en-US" sz="1500" dirty="0"/>
          </a:p>
          <a:p>
            <a:pPr lvl="2"/>
            <a:r>
              <a:rPr lang="en-US" sz="1500" dirty="0"/>
              <a:t>Monitor </a:t>
            </a:r>
            <a:r>
              <a:rPr lang="en-US" sz="1500" b="1" dirty="0"/>
              <a:t>placement trends and conversion rates</a:t>
            </a:r>
            <a:endParaRPr lang="en-US" sz="1500" dirty="0"/>
          </a:p>
          <a:p>
            <a:pPr lvl="2"/>
            <a:r>
              <a:rPr lang="en-US" sz="1500" dirty="0"/>
              <a:t>Target </a:t>
            </a:r>
            <a:r>
              <a:rPr lang="en-US" sz="1500" b="1" dirty="0"/>
              <a:t>underperforming student segments and specializations</a:t>
            </a:r>
            <a:endParaRPr lang="en-US" sz="1500" dirty="0"/>
          </a:p>
          <a:p>
            <a:pPr lvl="2"/>
            <a:r>
              <a:rPr lang="en-US" sz="1500" dirty="0"/>
              <a:t>Strengthen </a:t>
            </a:r>
            <a:r>
              <a:rPr lang="en-US" sz="1500" b="1" dirty="0"/>
              <a:t>industry partnerships through data-backed reporting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Faculty &amp; Academic Departments</a:t>
            </a:r>
            <a:endParaRPr lang="en-US" sz="1500" dirty="0"/>
          </a:p>
          <a:p>
            <a:pPr lvl="2"/>
            <a:r>
              <a:rPr lang="en-US" sz="1500" dirty="0"/>
              <a:t>Understand how </a:t>
            </a:r>
            <a:r>
              <a:rPr lang="en-US" sz="1500" b="1" dirty="0"/>
              <a:t>degree type and specialization influence placement outcomes</a:t>
            </a:r>
            <a:endParaRPr lang="en-US" sz="1500" dirty="0"/>
          </a:p>
          <a:p>
            <a:pPr lvl="2"/>
            <a:r>
              <a:rPr lang="en-US" sz="1500" dirty="0"/>
              <a:t>Align curriculum with </a:t>
            </a:r>
            <a:r>
              <a:rPr lang="en-US" sz="1500" b="1" dirty="0"/>
              <a:t>high-performing academic domains</a:t>
            </a:r>
            <a:endParaRPr lang="en-US" sz="1500" dirty="0"/>
          </a:p>
          <a:p>
            <a:pPr lvl="2"/>
            <a:r>
              <a:rPr lang="en-US" sz="1500" dirty="0"/>
              <a:t>Guide mentorship using </a:t>
            </a:r>
            <a:r>
              <a:rPr lang="en-US" sz="1500" b="1" dirty="0"/>
              <a:t>performance-based insights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Students &amp; Career Advisors</a:t>
            </a:r>
            <a:endParaRPr lang="en-US" sz="1500" dirty="0"/>
          </a:p>
          <a:p>
            <a:pPr lvl="2"/>
            <a:r>
              <a:rPr lang="en-US" sz="1500" dirty="0"/>
              <a:t>Understand how </a:t>
            </a:r>
            <a:r>
              <a:rPr lang="en-US" sz="1500" b="1" dirty="0"/>
              <a:t>specialization, and academic background impact salary outcomes</a:t>
            </a:r>
            <a:endParaRPr lang="en-US" sz="1500" dirty="0"/>
          </a:p>
          <a:p>
            <a:pPr lvl="2"/>
            <a:r>
              <a:rPr lang="en-US" sz="1500" dirty="0"/>
              <a:t>Make informed decisions about </a:t>
            </a:r>
            <a:r>
              <a:rPr lang="en-US" sz="1500" b="1" dirty="0"/>
              <a:t>career focus and skill development</a:t>
            </a:r>
            <a:endParaRPr lang="en-US" sz="1500" dirty="0"/>
          </a:p>
          <a:p>
            <a:pPr lvl="2"/>
            <a:r>
              <a:rPr lang="en-US" sz="1500" dirty="0"/>
              <a:t>Set realistic expectations regarding </a:t>
            </a:r>
            <a:r>
              <a:rPr lang="en-US" sz="1500" b="1" dirty="0"/>
              <a:t>placement and compensation trends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Recruiters &amp; Industry Partners</a:t>
            </a:r>
            <a:endParaRPr lang="en-US" sz="1500" dirty="0"/>
          </a:p>
          <a:p>
            <a:pPr lvl="2"/>
            <a:r>
              <a:rPr lang="en-US" sz="1500" dirty="0"/>
              <a:t>Identify </a:t>
            </a:r>
            <a:r>
              <a:rPr lang="en-US" sz="1500" b="1" dirty="0"/>
              <a:t>high-performing academic segments</a:t>
            </a:r>
            <a:endParaRPr lang="en-US" sz="1500" dirty="0"/>
          </a:p>
          <a:p>
            <a:pPr lvl="2"/>
            <a:r>
              <a:rPr lang="en-US" sz="1500" dirty="0"/>
              <a:t>Access data-backed insights on </a:t>
            </a:r>
            <a:r>
              <a:rPr lang="en-US" sz="1500" b="1" dirty="0"/>
              <a:t>student quality and specialization strengths</a:t>
            </a:r>
            <a:endParaRPr lang="en-US" sz="1500" dirty="0"/>
          </a:p>
          <a:p>
            <a:pPr lvl="2"/>
            <a:r>
              <a:rPr lang="en-US" sz="1500" dirty="0"/>
              <a:t>Optimize </a:t>
            </a:r>
            <a:r>
              <a:rPr lang="en-US" sz="1500" b="1" dirty="0"/>
              <a:t>recruitment strategy and hiring pipelines</a:t>
            </a:r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9D7EC8-B9CA-B4FE-6353-819CB77BD6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43043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F312E-E095-11B1-2E4F-C052CA408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580AE-97C9-723D-BDEE-EF026E7D1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172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4EABD-1638-7E2F-9F25-4B5A994E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49875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23652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9695</TotalTime>
  <Words>1076</Words>
  <Application>Microsoft Office PowerPoint</Application>
  <PresentationFormat>Widescreen</PresentationFormat>
  <Paragraphs>179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Academy for Business Careers, Data &amp; Entrepreneurship (ABCDE) - Placement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 Conclusion</vt:lpstr>
      <vt:lpstr>🖥️Dashboard Overview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59</cp:revision>
  <dcterms:created xsi:type="dcterms:W3CDTF">2025-09-09T12:03:39Z</dcterms:created>
  <dcterms:modified xsi:type="dcterms:W3CDTF">2026-04-04T18:30:57Z</dcterms:modified>
</cp:coreProperties>
</file>