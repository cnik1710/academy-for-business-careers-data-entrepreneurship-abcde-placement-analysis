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60" r:id="rId6"/>
    <p:sldId id="277" r:id="rId7"/>
    <p:sldId id="278" r:id="rId8"/>
    <p:sldId id="264" r:id="rId9"/>
    <p:sldId id="280" r:id="rId10"/>
    <p:sldId id="266" r:id="rId11"/>
    <p:sldId id="28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271016"/>
            <a:ext cx="11265408" cy="22389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Academy for Business Careers, Data &amp; Entrepreneurship (ABCDE) - Placement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42C3-3E90-1ECD-9C2C-2EF3B873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BB1B-94E4-6BBD-983C-6D58B603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13F40-B3DF-B71E-D855-A70072E4D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7048"/>
            <a:ext cx="12192000" cy="533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To develop an interactive </a:t>
            </a:r>
            <a:r>
              <a:rPr lang="en-US" sz="1400" b="1" dirty="0"/>
              <a:t>Placement Analytics Dashboard</a:t>
            </a:r>
            <a:r>
              <a:rPr lang="en-US" sz="1400" dirty="0"/>
              <a:t> to evaluate student placement performance and identify key salary drivers at </a:t>
            </a:r>
            <a:r>
              <a:rPr lang="en-US" sz="1400" b="1" dirty="0"/>
              <a:t>Academy for Business Careers, Data &amp; Entrepreneurship (ABCDE)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Project Purpose:</a:t>
            </a:r>
          </a:p>
          <a:p>
            <a:pPr lvl="1"/>
            <a:r>
              <a:rPr lang="en-US" sz="1400" dirty="0"/>
              <a:t>Analyze placement outcomes across </a:t>
            </a:r>
            <a:r>
              <a:rPr lang="en-US" sz="1400" b="1" dirty="0"/>
              <a:t>gender, specialization, degree type, and work experience</a:t>
            </a:r>
            <a:endParaRPr lang="en-US" sz="1400" dirty="0"/>
          </a:p>
          <a:p>
            <a:pPr lvl="1"/>
            <a:r>
              <a:rPr lang="en-US" sz="1400" dirty="0"/>
              <a:t>Identify </a:t>
            </a:r>
            <a:r>
              <a:rPr lang="en-US" sz="1400" b="1" dirty="0"/>
              <a:t>academic and demographic factors</a:t>
            </a:r>
            <a:r>
              <a:rPr lang="en-US" sz="1400" dirty="0"/>
              <a:t> influencing placement success</a:t>
            </a:r>
          </a:p>
          <a:p>
            <a:pPr lvl="1"/>
            <a:r>
              <a:rPr lang="en-US" sz="1400" dirty="0"/>
              <a:t>Examine </a:t>
            </a:r>
            <a:r>
              <a:rPr lang="en-US" sz="1400" b="1" dirty="0"/>
              <a:t>salary distribution and CGPA-to-salary trends</a:t>
            </a:r>
            <a:endParaRPr lang="en-US" sz="1400" dirty="0"/>
          </a:p>
          <a:p>
            <a:pPr lvl="1"/>
            <a:r>
              <a:rPr lang="en-US" sz="1400" dirty="0"/>
              <a:t>Provide </a:t>
            </a:r>
            <a:r>
              <a:rPr lang="en-US" sz="1400" b="1" dirty="0"/>
              <a:t>actionable insights</a:t>
            </a:r>
            <a:r>
              <a:rPr lang="en-US" sz="1400" dirty="0"/>
              <a:t> for institutional improvement</a:t>
            </a:r>
          </a:p>
          <a:p>
            <a:pPr marL="0" indent="0">
              <a:buNone/>
            </a:pPr>
            <a:r>
              <a:rPr lang="en-US" sz="1400" b="1" dirty="0"/>
              <a:t>Key KPIs:</a:t>
            </a:r>
          </a:p>
          <a:p>
            <a:pPr lvl="1"/>
            <a:r>
              <a:rPr lang="en-US" sz="1400" b="1" dirty="0"/>
              <a:t>Total Students: 215</a:t>
            </a:r>
            <a:endParaRPr lang="en-US" sz="1400" dirty="0"/>
          </a:p>
          <a:p>
            <a:pPr lvl="1"/>
            <a:r>
              <a:rPr lang="en-US" sz="1400" b="1" dirty="0"/>
              <a:t>Placed Students: 148</a:t>
            </a:r>
            <a:endParaRPr lang="en-US" sz="1400" dirty="0"/>
          </a:p>
          <a:p>
            <a:pPr lvl="1"/>
            <a:r>
              <a:rPr lang="en-US" sz="1400" b="1" dirty="0"/>
              <a:t>Placement Rate: 68.84%</a:t>
            </a:r>
            <a:endParaRPr lang="en-US" sz="1400" dirty="0"/>
          </a:p>
          <a:p>
            <a:pPr lvl="1"/>
            <a:r>
              <a:rPr lang="en-US" sz="1400" b="1" dirty="0"/>
              <a:t>Average Salary: ₹198.70K</a:t>
            </a:r>
            <a:endParaRPr lang="en-US" sz="1400" dirty="0"/>
          </a:p>
          <a:p>
            <a:pPr lvl="1"/>
            <a:r>
              <a:rPr lang="en-US" sz="1400" b="1" dirty="0"/>
              <a:t>Maximum Salary: ₹940K</a:t>
            </a:r>
            <a:endParaRPr lang="en-US" sz="1400" dirty="0"/>
          </a:p>
          <a:p>
            <a:pPr lvl="1"/>
            <a:r>
              <a:rPr lang="en-US" sz="1400" b="1" dirty="0"/>
              <a:t>Placement Rate by Degree Type &amp; Specialization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Deliverables:</a:t>
            </a:r>
          </a:p>
          <a:p>
            <a:pPr lvl="1"/>
            <a:r>
              <a:rPr lang="en-US" sz="1400" b="1" dirty="0"/>
              <a:t>Interactive Power BI Dashboard</a:t>
            </a:r>
            <a:endParaRPr lang="en-US" sz="1400" dirty="0"/>
          </a:p>
          <a:p>
            <a:pPr lvl="1"/>
            <a:r>
              <a:rPr lang="en-US" sz="1400" b="1" dirty="0"/>
              <a:t>Executive Presentation</a:t>
            </a:r>
            <a:endParaRPr lang="en-US" sz="1400" dirty="0"/>
          </a:p>
          <a:p>
            <a:pPr lvl="1"/>
            <a:r>
              <a:rPr lang="en-US" sz="1400" b="1" dirty="0"/>
              <a:t>Insights &amp; KPI Summary Report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541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E3D56-EFEF-5B4E-645A-5049E9A5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EE49-CCAC-EE12-BD11-1F13AE47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1A11-0FF6-A7F0-01BB-74766979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4168"/>
            <a:ext cx="12192000" cy="5312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r>
              <a:rPr lang="en-US" sz="1500" dirty="0"/>
              <a:t>Analyzed </a:t>
            </a:r>
            <a:r>
              <a:rPr lang="en-US" sz="1500" b="1" dirty="0"/>
              <a:t>215 student placement records (AY 2025–26)</a:t>
            </a:r>
            <a:endParaRPr lang="en-US" sz="1500" dirty="0"/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Evaluated </a:t>
            </a:r>
            <a:r>
              <a:rPr lang="en-US" sz="1500" b="1" dirty="0"/>
              <a:t>academic metrics – degree type, specialization, CGPA</a:t>
            </a:r>
            <a:endParaRPr lang="en-US" sz="1500" dirty="0"/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Assessed </a:t>
            </a:r>
            <a:r>
              <a:rPr lang="en-US" sz="1500" b="1" dirty="0"/>
              <a:t>demographics – gender, work experience</a:t>
            </a:r>
            <a:endParaRPr lang="en-US" sz="1500" dirty="0"/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Examined </a:t>
            </a:r>
            <a:r>
              <a:rPr lang="en-US" sz="1500" b="1" dirty="0"/>
              <a:t>placement status and salary outcomes</a:t>
            </a:r>
            <a:endParaRPr lang="en-US" sz="1500" dirty="0"/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Demonstrates how </a:t>
            </a:r>
            <a:r>
              <a:rPr lang="en-US" sz="1500" b="1" dirty="0"/>
              <a:t>data analytics empowers institutional decisions</a:t>
            </a:r>
            <a:r>
              <a:rPr lang="en-US" sz="1500" dirty="0"/>
              <a:t> to optimize placement strategies and student performance evaluation.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Built an </a:t>
            </a:r>
            <a:r>
              <a:rPr lang="en-US" sz="1500" b="1" dirty="0"/>
              <a:t>interactive Placement Analytics Dashboard</a:t>
            </a:r>
            <a:r>
              <a:rPr lang="en-US" sz="1500" dirty="0"/>
              <a:t> using Power BI.</a:t>
            </a:r>
            <a:br>
              <a:rPr lang="en-US" sz="1500" dirty="0"/>
            </a:br>
            <a:r>
              <a:rPr lang="en-US" sz="1500" dirty="0"/>
              <a:t>	Key insights derived on:</a:t>
            </a:r>
          </a:p>
          <a:p>
            <a:pPr lvl="2"/>
            <a:r>
              <a:rPr lang="en-US" sz="1500" dirty="0"/>
              <a:t>Overall placement rate and salary distribution</a:t>
            </a:r>
          </a:p>
          <a:p>
            <a:pPr lvl="2"/>
            <a:r>
              <a:rPr lang="en-US" sz="1500" dirty="0"/>
              <a:t>CGPA-to-salary correlation patterns</a:t>
            </a:r>
          </a:p>
          <a:p>
            <a:pPr lvl="2"/>
            <a:r>
              <a:rPr lang="en-US" sz="1500" dirty="0"/>
              <a:t>Gender and background-based placement trends</a:t>
            </a:r>
          </a:p>
          <a:p>
            <a:pPr lvl="2"/>
            <a:r>
              <a:rPr lang="en-US" sz="1500" dirty="0"/>
              <a:t>Specialization-wise salary contributions</a:t>
            </a:r>
            <a:br>
              <a:rPr lang="en-US" sz="1500" dirty="0"/>
            </a:br>
            <a:endParaRPr lang="en-US" sz="1500" dirty="0"/>
          </a:p>
          <a:p>
            <a:pPr lvl="1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6921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42B8-FCB3-DE54-632F-6CC30A0A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4FB5-FC5D-4DBC-581E-311A02C0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FFFB-3FB5-0006-0EF2-162A6B98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  Institutional placement dataset (simulated academic dataset)</a:t>
            </a:r>
            <a:endParaRPr lang="en-US" sz="1500" dirty="0"/>
          </a:p>
          <a:p>
            <a:pPr lvl="1"/>
            <a:r>
              <a:rPr lang="en-US" sz="1500" b="1" dirty="0"/>
              <a:t>Data Type:  Structured student-level records</a:t>
            </a:r>
            <a:endParaRPr lang="en-US" sz="1500" dirty="0"/>
          </a:p>
          <a:p>
            <a:pPr lvl="1"/>
            <a:r>
              <a:rPr lang="en-US" sz="1500" b="1" dirty="0"/>
              <a:t>Time Period:  Academic Year 2025–26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 Student-level unique ID</a:t>
            </a:r>
            <a:endParaRPr lang="en-US" sz="1500" dirty="0"/>
          </a:p>
          <a:p>
            <a:pPr lvl="1"/>
            <a:r>
              <a:rPr lang="en-US" sz="1500" b="1" dirty="0"/>
              <a:t>Total Rows: 215</a:t>
            </a:r>
          </a:p>
          <a:p>
            <a:pPr lvl="1"/>
            <a:r>
              <a:rPr lang="en-US" sz="1500" dirty="0"/>
              <a:t>Categories: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Gender, Work Experience</a:t>
            </a:r>
          </a:p>
          <a:p>
            <a:pPr lvl="2"/>
            <a:r>
              <a:rPr lang="en-US" sz="1500" b="1" dirty="0"/>
              <a:t>Academics:</a:t>
            </a:r>
            <a:r>
              <a:rPr lang="en-US" sz="1500" dirty="0"/>
              <a:t> Degree Type, Specialization, CGPA</a:t>
            </a:r>
          </a:p>
          <a:p>
            <a:pPr lvl="2"/>
            <a:r>
              <a:rPr lang="en-US" sz="1500" b="1" dirty="0"/>
              <a:t>Placement:</a:t>
            </a:r>
            <a:r>
              <a:rPr lang="en-US" sz="1500" dirty="0"/>
              <a:t> Placement Status, Salary</a:t>
            </a:r>
          </a:p>
          <a:p>
            <a:pPr lvl="1"/>
            <a:r>
              <a:rPr lang="en-US" sz="1500" dirty="0"/>
              <a:t>Calculated Metrics:</a:t>
            </a:r>
          </a:p>
          <a:p>
            <a:pPr lvl="2"/>
            <a:r>
              <a:rPr lang="en-US" sz="1500" b="1" dirty="0" err="1"/>
              <a:t>placement_flag</a:t>
            </a:r>
            <a:r>
              <a:rPr lang="en-US" sz="1500" b="1" dirty="0"/>
              <a:t> (1 = Placed, 0 = Not Placed)</a:t>
            </a:r>
            <a:endParaRPr lang="en-US" sz="1500" dirty="0"/>
          </a:p>
          <a:p>
            <a:pPr lvl="2"/>
            <a:r>
              <a:rPr lang="en-US" sz="1500" b="1" dirty="0"/>
              <a:t>Placement Rate %</a:t>
            </a:r>
            <a:endParaRPr lang="en-US" sz="1500" dirty="0"/>
          </a:p>
          <a:p>
            <a:pPr lvl="2"/>
            <a:r>
              <a:rPr lang="en-US" sz="1500" b="1" dirty="0"/>
              <a:t>Average Salary</a:t>
            </a:r>
            <a:endParaRPr lang="en-US" sz="1500" dirty="0"/>
          </a:p>
          <a:p>
            <a:pPr lvl="2"/>
            <a:r>
              <a:rPr lang="en-US" sz="1500" b="1" dirty="0"/>
              <a:t>Degree-wise Placement Distribution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8586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CC1-EFEF-BEAF-C2B8-1AB8813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795-59C2-C8C4-42AB-E1A39BBA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2224"/>
            <a:ext cx="12192000" cy="506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Power Query</a:t>
            </a:r>
          </a:p>
          <a:p>
            <a:pPr lvl="2"/>
            <a:r>
              <a:rPr lang="en-US" sz="1500" b="1" dirty="0"/>
              <a:t>Data Transformation &amp; Shaping</a:t>
            </a:r>
            <a:endParaRPr lang="en-US" sz="1500" dirty="0"/>
          </a:p>
          <a:p>
            <a:pPr lvl="2"/>
            <a:r>
              <a:rPr lang="en-US" sz="1500" dirty="0"/>
              <a:t>Column Standardization</a:t>
            </a:r>
          </a:p>
          <a:p>
            <a:pPr lvl="2"/>
            <a:r>
              <a:rPr lang="en-US" sz="1500" dirty="0"/>
              <a:t>Data Preparation for BI Integration</a:t>
            </a:r>
            <a:endParaRPr lang="en-US" sz="1500" b="1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Power BI</a:t>
            </a:r>
            <a:r>
              <a:rPr lang="en-US" sz="1500" dirty="0"/>
              <a:t>  </a:t>
            </a:r>
          </a:p>
          <a:p>
            <a:pPr lvl="2"/>
            <a:r>
              <a:rPr lang="en-US" sz="1500" dirty="0"/>
              <a:t>Dashboard &amp; Visualization</a:t>
            </a:r>
          </a:p>
          <a:p>
            <a:pPr lvl="2"/>
            <a:r>
              <a:rPr lang="en-US" sz="1500" b="1" dirty="0"/>
              <a:t>Data Modeling &amp; Relationship Building</a:t>
            </a:r>
            <a:endParaRPr lang="en-US" sz="1500" dirty="0"/>
          </a:p>
          <a:p>
            <a:pPr lvl="2"/>
            <a:r>
              <a:rPr lang="en-US" sz="1500" b="1" dirty="0"/>
              <a:t>DAX (DAX</a:t>
            </a:r>
            <a:r>
              <a:rPr lang="en-US" sz="1500" dirty="0"/>
              <a:t> – KPI Calculations</a:t>
            </a:r>
            <a:r>
              <a:rPr lang="en-US" sz="1500" b="1" dirty="0"/>
              <a:t> Columns &amp; Measures)</a:t>
            </a:r>
            <a:endParaRPr lang="en-US" sz="1500" dirty="0"/>
          </a:p>
          <a:p>
            <a:pPr lvl="2"/>
            <a:r>
              <a:rPr lang="en-US" sz="1500" b="1" dirty="0"/>
              <a:t>Slicers &amp; Dynamic Filtering</a:t>
            </a:r>
            <a:endParaRPr lang="en-US" sz="1500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39725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42D9-0EA0-24CE-5B23-2DB68C41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0BC5-4739-A149-88F0-2AE5CB8D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B1733-B0DE-1FB0-9313-E0B5F1492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714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Removed </a:t>
            </a:r>
            <a:r>
              <a:rPr lang="en-US" sz="1400" b="1" dirty="0"/>
              <a:t>missing and inconsistent values </a:t>
            </a:r>
          </a:p>
          <a:p>
            <a:pPr lvl="2"/>
            <a:r>
              <a:rPr lang="en-US" sz="1400" dirty="0"/>
              <a:t>Standardized </a:t>
            </a:r>
            <a:r>
              <a:rPr lang="en-US" sz="1400" b="1" dirty="0"/>
              <a:t>categorical fields</a:t>
            </a:r>
            <a:endParaRPr lang="en-US" sz="1400" dirty="0"/>
          </a:p>
          <a:p>
            <a:pPr lvl="2"/>
            <a:r>
              <a:rPr lang="en-US" sz="1400" dirty="0"/>
              <a:t>Validated </a:t>
            </a:r>
            <a:r>
              <a:rPr lang="en-US" sz="1400" b="1" dirty="0"/>
              <a:t>salary and placement records</a:t>
            </a:r>
            <a:endParaRPr lang="en-US" sz="1400" dirty="0"/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400" dirty="0"/>
              <a:t>Built an optimized </a:t>
            </a:r>
            <a:r>
              <a:rPr lang="en-US" sz="1400" b="1" dirty="0"/>
              <a:t>data model</a:t>
            </a:r>
            <a:endParaRPr lang="en-US" sz="1400" dirty="0"/>
          </a:p>
          <a:p>
            <a:pPr lvl="2"/>
            <a:r>
              <a:rPr lang="en-US" sz="1400" dirty="0"/>
              <a:t>Established relationships between </a:t>
            </a:r>
            <a:r>
              <a:rPr lang="en-US" sz="1400" b="1" dirty="0"/>
              <a:t>academic and placement dimensions</a:t>
            </a:r>
            <a:endParaRPr lang="en-US" sz="1400" dirty="0"/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Created </a:t>
            </a:r>
            <a:r>
              <a:rPr lang="en-US" sz="1400" b="1" dirty="0" err="1"/>
              <a:t>placement_flag</a:t>
            </a:r>
            <a:r>
              <a:rPr lang="en-US" sz="1400" b="1" dirty="0"/>
              <a:t> metric</a:t>
            </a:r>
            <a:endParaRPr lang="en-US" sz="1400" dirty="0"/>
          </a:p>
          <a:p>
            <a:pPr lvl="2"/>
            <a:r>
              <a:rPr lang="en-US" sz="1400" dirty="0"/>
              <a:t>Derived </a:t>
            </a:r>
            <a:r>
              <a:rPr lang="en-US" sz="1400" b="1" dirty="0"/>
              <a:t>Placement Rate %</a:t>
            </a:r>
            <a:endParaRPr lang="en-US" sz="1400" dirty="0"/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Designed </a:t>
            </a:r>
            <a:r>
              <a:rPr lang="en-US" sz="1400" b="1" dirty="0"/>
              <a:t>KPI Cards for summary metrics</a:t>
            </a:r>
            <a:endParaRPr lang="en-US" sz="1400" dirty="0"/>
          </a:p>
          <a:p>
            <a:pPr lvl="2"/>
            <a:r>
              <a:rPr lang="en-US" sz="1400" dirty="0"/>
              <a:t>Used </a:t>
            </a:r>
            <a:r>
              <a:rPr lang="en-US" sz="1400" b="1" dirty="0"/>
              <a:t>Donut Chart for gender distribution</a:t>
            </a:r>
            <a:endParaRPr lang="en-US" sz="1400" dirty="0"/>
          </a:p>
          <a:p>
            <a:pPr lvl="2"/>
            <a:r>
              <a:rPr lang="en-US" sz="1400" dirty="0"/>
              <a:t>Applied </a:t>
            </a:r>
            <a:r>
              <a:rPr lang="en-US" sz="1400" b="1" dirty="0"/>
              <a:t>Bar &amp; Clustered Charts for specialization and salary insights</a:t>
            </a:r>
            <a:endParaRPr lang="en-US" sz="1400" dirty="0"/>
          </a:p>
          <a:p>
            <a:pPr lvl="2"/>
            <a:r>
              <a:rPr lang="en-US" sz="1400" dirty="0"/>
              <a:t>Implemented </a:t>
            </a:r>
            <a:r>
              <a:rPr lang="en-US" sz="1400" b="1" dirty="0"/>
              <a:t>Interactive slicers for dynamic filtering</a:t>
            </a:r>
            <a:endParaRPr lang="en-US" sz="1400" dirty="0"/>
          </a:p>
          <a:p>
            <a:pPr lvl="1"/>
            <a:r>
              <a:rPr lang="en-US" sz="1400" b="1" dirty="0"/>
              <a:t>Validation &amp; Formatting:</a:t>
            </a:r>
          </a:p>
          <a:p>
            <a:pPr lvl="2"/>
            <a:r>
              <a:rPr lang="en-US" sz="1400" dirty="0"/>
              <a:t>Verified KPI calculations against raw totals</a:t>
            </a:r>
          </a:p>
          <a:p>
            <a:pPr lvl="2"/>
            <a:r>
              <a:rPr lang="en-US" sz="1400" dirty="0"/>
              <a:t>Applied consistent </a:t>
            </a:r>
            <a:r>
              <a:rPr lang="en-US" sz="1400" b="1" dirty="0"/>
              <a:t>dashboard theme and formatting</a:t>
            </a:r>
            <a:endParaRPr lang="en-US" sz="1400" dirty="0"/>
          </a:p>
          <a:p>
            <a:pPr lvl="2"/>
            <a:r>
              <a:rPr lang="en-US" sz="1400" dirty="0"/>
              <a:t>Optimized layout for </a:t>
            </a:r>
            <a:r>
              <a:rPr lang="en-US" sz="1400" b="1" dirty="0"/>
              <a:t>executive readability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174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715E-0444-AD1D-4966-699CF6A5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4761-4B37-1E7F-C3C8-4E4D85DC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CDAD1-5F08-67B4-95A9-725577F13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880"/>
            <a:ext cx="12192000" cy="5532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Institutions collect placement data but often lack a </a:t>
            </a:r>
            <a:r>
              <a:rPr lang="en-US" sz="1500" b="1" dirty="0"/>
              <a:t>centralized analytical dashboard</a:t>
            </a:r>
            <a:r>
              <a:rPr lang="en-US" sz="1500" dirty="0"/>
              <a:t> to evaluate performance drivers in a structured manner.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This results in limited visibility into:</a:t>
            </a:r>
          </a:p>
          <a:p>
            <a:pPr lvl="1"/>
            <a:r>
              <a:rPr lang="en-US" sz="1500" b="1" dirty="0"/>
              <a:t>Overall placement efficiency and conversion rates</a:t>
            </a:r>
            <a:endParaRPr lang="en-US" sz="1500" dirty="0"/>
          </a:p>
          <a:p>
            <a:pPr lvl="1"/>
            <a:r>
              <a:rPr lang="en-US" sz="1500" b="1" dirty="0"/>
              <a:t>Degree-wise placement contribution and disparities</a:t>
            </a:r>
            <a:endParaRPr lang="en-US" sz="1500" dirty="0"/>
          </a:p>
          <a:p>
            <a:pPr lvl="1"/>
            <a:r>
              <a:rPr lang="en-US" sz="1500" b="1" dirty="0"/>
              <a:t>Specialization-level performance differences</a:t>
            </a:r>
            <a:endParaRPr lang="en-US" sz="1500" dirty="0"/>
          </a:p>
          <a:p>
            <a:pPr lvl="1"/>
            <a:r>
              <a:rPr lang="en-US" sz="1500" b="1" dirty="0"/>
              <a:t>Gender-based salary variations</a:t>
            </a:r>
            <a:endParaRPr lang="en-US" sz="1500" dirty="0"/>
          </a:p>
          <a:p>
            <a:pPr lvl="1"/>
            <a:r>
              <a:rPr lang="en-US" sz="1500" b="1" dirty="0"/>
              <a:t>Academic background impact on salary outcomes</a:t>
            </a:r>
          </a:p>
          <a:p>
            <a:pPr lvl="1"/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Key Questions :</a:t>
            </a:r>
          </a:p>
          <a:p>
            <a:pPr lvl="1"/>
            <a:r>
              <a:rPr lang="en-US" sz="1500" dirty="0"/>
              <a:t>What is the </a:t>
            </a:r>
            <a:r>
              <a:rPr lang="en-US" sz="1500" b="1" dirty="0"/>
              <a:t>overall placement rate</a:t>
            </a:r>
            <a:r>
              <a:rPr lang="en-US" sz="1500" dirty="0"/>
              <a:t> of the college?</a:t>
            </a:r>
          </a:p>
          <a:p>
            <a:pPr lvl="1"/>
            <a:r>
              <a:rPr lang="en-US" sz="1500" dirty="0"/>
              <a:t>How many students are </a:t>
            </a:r>
            <a:r>
              <a:rPr lang="en-US" sz="1500" b="1" dirty="0"/>
              <a:t>placed vs unplaced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specialization (Marketing &amp; Finance vs Marketing &amp; HR)</a:t>
            </a:r>
            <a:r>
              <a:rPr lang="en-US" sz="1500" dirty="0"/>
              <a:t> delivers stronger placement and salary outcomes?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degree type (Commerce &amp; Management, Science &amp; Technology, Others)</a:t>
            </a:r>
            <a:r>
              <a:rPr lang="en-US" sz="1500" dirty="0"/>
              <a:t> influence placement success?</a:t>
            </a:r>
          </a:p>
          <a:p>
            <a:pPr lvl="1"/>
            <a:r>
              <a:rPr lang="en-US" sz="1500" dirty="0"/>
              <a:t>Is there a </a:t>
            </a:r>
            <a:r>
              <a:rPr lang="en-US" sz="1500" b="1" dirty="0"/>
              <a:t>gender-based salary gap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What are the </a:t>
            </a:r>
            <a:r>
              <a:rPr lang="en-US" sz="1500" b="1" dirty="0"/>
              <a:t>average and maximum salary levels</a:t>
            </a:r>
            <a:r>
              <a:rPr lang="en-US" sz="1500" dirty="0"/>
              <a:t> across segments?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academic background drive salary performance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student segments contribute most to overall placement outcomes?</a:t>
            </a:r>
          </a:p>
          <a:p>
            <a:pPr lvl="1"/>
            <a:r>
              <a:rPr lang="en-US" sz="1500" dirty="0"/>
              <a:t>How can these insights help improve </a:t>
            </a:r>
            <a:r>
              <a:rPr lang="en-US" sz="1500" b="1" dirty="0"/>
              <a:t>training focus and placement strategy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463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B95-A278-B684-4FC9-8094BB85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5318A-12FB-991F-94CA-32590DF9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455182"/>
            <a:ext cx="12192000" cy="512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400" b="1" dirty="0"/>
              <a:t>Top Findings:</a:t>
            </a:r>
          </a:p>
          <a:p>
            <a:pPr lvl="1"/>
            <a:r>
              <a:rPr lang="en-US" sz="1400" b="1" dirty="0"/>
              <a:t>~69% placement rate (148 of 215 students)</a:t>
            </a:r>
            <a:endParaRPr lang="en-US" sz="1400" dirty="0"/>
          </a:p>
          <a:p>
            <a:pPr lvl="1"/>
            <a:r>
              <a:rPr lang="en-US" sz="1400" b="1" dirty="0"/>
              <a:t>Marketing &amp; Finance specialization shows stronger placement and salary performance</a:t>
            </a:r>
            <a:endParaRPr lang="en-US" sz="1400" dirty="0"/>
          </a:p>
          <a:p>
            <a:pPr lvl="1"/>
            <a:r>
              <a:rPr lang="en-US" sz="1400" b="1" dirty="0"/>
              <a:t>Science &amp; Technology students achieve highest average salary (~₹0.22M)</a:t>
            </a:r>
            <a:endParaRPr lang="en-US" sz="1400" dirty="0"/>
          </a:p>
          <a:p>
            <a:pPr lvl="1"/>
            <a:r>
              <a:rPr lang="en-US" sz="1400" b="1" dirty="0"/>
              <a:t>Commerce &amp; Management has highest student participation (145 students)</a:t>
            </a:r>
            <a:endParaRPr lang="en-US" sz="1400" dirty="0"/>
          </a:p>
          <a:p>
            <a:pPr lvl="1"/>
            <a:r>
              <a:rPr lang="en-US" sz="1400" b="1" dirty="0"/>
              <a:t>Male students show higher average salary compared to female students</a:t>
            </a:r>
            <a:endParaRPr lang="en-US" sz="1400" dirty="0"/>
          </a:p>
          <a:p>
            <a:pPr lvl="1"/>
            <a:r>
              <a:rPr lang="en-US" sz="1400" b="1" dirty="0"/>
              <a:t>Clear positive relationship between academic background and salary</a:t>
            </a: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Supporting Metrics:</a:t>
            </a:r>
          </a:p>
          <a:p>
            <a:pPr lvl="1"/>
            <a:r>
              <a:rPr lang="en-US" sz="1400" b="1" dirty="0"/>
              <a:t>Total Students: 215</a:t>
            </a:r>
            <a:endParaRPr lang="en-US" sz="1400" dirty="0"/>
          </a:p>
          <a:p>
            <a:pPr lvl="1"/>
            <a:r>
              <a:rPr lang="en-US" sz="1400" b="1" dirty="0"/>
              <a:t>Placed Students: 148</a:t>
            </a:r>
            <a:endParaRPr lang="en-US" sz="1400" dirty="0"/>
          </a:p>
          <a:p>
            <a:pPr lvl="1"/>
            <a:r>
              <a:rPr lang="en-US" sz="1400" b="1" dirty="0"/>
              <a:t>Unplaced Students: 67</a:t>
            </a:r>
            <a:endParaRPr lang="en-US" sz="1400" dirty="0"/>
          </a:p>
          <a:p>
            <a:pPr lvl="1"/>
            <a:r>
              <a:rPr lang="en-US" sz="1400" b="1" dirty="0"/>
              <a:t>Placement Rate: 68.84%</a:t>
            </a:r>
            <a:endParaRPr lang="en-US" sz="1400" dirty="0"/>
          </a:p>
          <a:p>
            <a:pPr lvl="1"/>
            <a:r>
              <a:rPr lang="en-US" sz="1400" b="1" dirty="0"/>
              <a:t>Average Salary: ₹198.70K</a:t>
            </a:r>
            <a:endParaRPr lang="en-US" sz="1400" dirty="0"/>
          </a:p>
          <a:p>
            <a:pPr lvl="1"/>
            <a:r>
              <a:rPr lang="en-US" sz="1400" b="1" dirty="0"/>
              <a:t>Maximum Salary: ₹940K</a:t>
            </a:r>
            <a:endParaRPr lang="en-US" sz="1400" dirty="0"/>
          </a:p>
          <a:p>
            <a:pPr lvl="1"/>
            <a:r>
              <a:rPr lang="en-US" sz="1400" b="1" dirty="0"/>
              <a:t>Commerce &amp; Management: 145 students</a:t>
            </a:r>
            <a:endParaRPr lang="en-US" sz="1400" dirty="0"/>
          </a:p>
          <a:p>
            <a:pPr lvl="1"/>
            <a:r>
              <a:rPr lang="en-US" sz="1400" b="1" dirty="0"/>
              <a:t>Science &amp; Technology: 59 students</a:t>
            </a:r>
            <a:endParaRPr lang="en-US" sz="1400" dirty="0"/>
          </a:p>
          <a:p>
            <a:pPr lvl="1"/>
            <a:r>
              <a:rPr lang="en-US" sz="1400" b="1" dirty="0"/>
              <a:t>Others: 11 students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72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CE0C-54D2-7349-734F-B587D8FC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92A1-F9DD-1113-176F-5FE70FD8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0464BE-C5CF-897D-627B-77E0E3831D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41094"/>
            <a:ext cx="12191998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The placement analysis of </a:t>
            </a:r>
            <a:r>
              <a:rPr lang="en-US" sz="1500" b="1" dirty="0"/>
              <a:t>Academy for Business Careers, Data &amp; Entrepreneurship (ABCDE)</a:t>
            </a:r>
            <a:r>
              <a:rPr lang="en-US" sz="1500" dirty="0"/>
              <a:t> reveals clear and measurable trends in student performance and employment outcomes.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Science &amp; Technology students achieve the strongest salary outcomes</a:t>
            </a:r>
            <a:r>
              <a:rPr lang="en-US" sz="1500" dirty="0"/>
              <a:t>, while </a:t>
            </a:r>
            <a:r>
              <a:rPr lang="en-US" sz="1500" b="1" dirty="0"/>
              <a:t>Commerce &amp; Management has the highest student participation</a:t>
            </a:r>
            <a:r>
              <a:rPr lang="en-US" sz="1500" dirty="0"/>
              <a:t>. A clear performance gap is visible across degree types.</a:t>
            </a:r>
          </a:p>
          <a:p>
            <a:pPr marL="457200" lvl="1" indent="0">
              <a:buNone/>
            </a:pPr>
            <a:endParaRPr lang="en-US" sz="1500" b="1" dirty="0"/>
          </a:p>
          <a:p>
            <a:pPr lvl="1"/>
            <a:r>
              <a:rPr lang="en-US" sz="1500" b="1" dirty="0"/>
              <a:t>Specialization and gender influence placement and salary outcomes</a:t>
            </a:r>
            <a:r>
              <a:rPr lang="en-US" sz="1500" dirty="0"/>
              <a:t>, with </a:t>
            </a:r>
            <a:r>
              <a:rPr lang="en-US" sz="1500" b="1" dirty="0"/>
              <a:t>Marketing &amp; Finance demonstrating stronger placement efficiency and higher salary performance</a:t>
            </a:r>
            <a:r>
              <a:rPr lang="en-US" sz="1500" dirty="0"/>
              <a:t> compared to other specializations.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interactive dashboard provides a </a:t>
            </a:r>
            <a:r>
              <a:rPr lang="en-US" sz="1500" b="1" dirty="0"/>
              <a:t>comprehensive, data-driven view of placement performance</a:t>
            </a:r>
            <a:r>
              <a:rPr lang="en-US" sz="1500" dirty="0"/>
              <a:t>, enabling administrators to refine training strategies, align curriculum with industry demands, and identify improvement areas across student segments.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Overall, this project demonstrates how </a:t>
            </a:r>
            <a:r>
              <a:rPr lang="en-US" sz="1500" b="1" dirty="0"/>
              <a:t>structured analytics and visualization can strengthen institutional decision-making, improve placement strategies, and enhance student career outcomes.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6495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 – Placement Overview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680FB1-2DE0-4693-7907-5D6361F65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9650"/>
            <a:ext cx="12192000" cy="58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2DD15-8D6C-168C-0506-20B10184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1772A-CDAE-646F-C3D7-ABADB6EE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4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1500" b="1" dirty="0"/>
              <a:t>College Administration &amp; Management</a:t>
            </a:r>
            <a:endParaRPr lang="en-US" sz="1500" dirty="0"/>
          </a:p>
          <a:p>
            <a:pPr lvl="2"/>
            <a:r>
              <a:rPr lang="en-US" sz="1500" dirty="0"/>
              <a:t>Leverage placement analytics to evaluate </a:t>
            </a:r>
            <a:r>
              <a:rPr lang="en-US" sz="1500" b="1" dirty="0"/>
              <a:t>program-level performance</a:t>
            </a:r>
            <a:endParaRPr lang="en-US" sz="1500" dirty="0"/>
          </a:p>
          <a:p>
            <a:pPr lvl="2"/>
            <a:r>
              <a:rPr lang="en-US" sz="1500" dirty="0"/>
              <a:t>Identify </a:t>
            </a:r>
            <a:r>
              <a:rPr lang="en-US" sz="1500" b="1" dirty="0"/>
              <a:t>academic strengths and gap areas</a:t>
            </a:r>
            <a:endParaRPr lang="en-US" sz="1500" dirty="0"/>
          </a:p>
          <a:p>
            <a:pPr lvl="2"/>
            <a:r>
              <a:rPr lang="en-US" sz="1500" dirty="0"/>
              <a:t>Plan </a:t>
            </a:r>
            <a:r>
              <a:rPr lang="en-US" sz="1500" b="1" dirty="0"/>
              <a:t>strategic improvements in curriculum and training initiatives</a:t>
            </a:r>
            <a:endParaRPr lang="en-US" sz="1500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Training &amp; Placement Cell</a:t>
            </a:r>
            <a:endParaRPr lang="en-US" sz="1500" dirty="0"/>
          </a:p>
          <a:p>
            <a:pPr lvl="2"/>
            <a:r>
              <a:rPr lang="en-US" sz="1500" dirty="0"/>
              <a:t>Monitor </a:t>
            </a:r>
            <a:r>
              <a:rPr lang="en-US" sz="1500" b="1" dirty="0"/>
              <a:t>placement trends and conversion rates</a:t>
            </a:r>
            <a:endParaRPr lang="en-US" sz="1500" dirty="0"/>
          </a:p>
          <a:p>
            <a:pPr lvl="2"/>
            <a:r>
              <a:rPr lang="en-US" sz="1500" dirty="0"/>
              <a:t>Target </a:t>
            </a:r>
            <a:r>
              <a:rPr lang="en-US" sz="1500" b="1" dirty="0"/>
              <a:t>underperforming student segments and specializations</a:t>
            </a:r>
            <a:endParaRPr lang="en-US" sz="1500" dirty="0"/>
          </a:p>
          <a:p>
            <a:pPr lvl="2"/>
            <a:r>
              <a:rPr lang="en-US" sz="1500" dirty="0"/>
              <a:t>Strengthen </a:t>
            </a:r>
            <a:r>
              <a:rPr lang="en-US" sz="1500" b="1" dirty="0"/>
              <a:t>industry partnerships through data-backed reporting</a:t>
            </a:r>
            <a:endParaRPr lang="en-US" sz="1500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Faculty &amp; Academic Departments</a:t>
            </a:r>
            <a:endParaRPr lang="en-US" sz="1500" dirty="0"/>
          </a:p>
          <a:p>
            <a:pPr lvl="2"/>
            <a:r>
              <a:rPr lang="en-US" sz="1500" dirty="0"/>
              <a:t>Understand how </a:t>
            </a:r>
            <a:r>
              <a:rPr lang="en-US" sz="1500" b="1" dirty="0"/>
              <a:t>degree type and specialization influence placement outcomes</a:t>
            </a:r>
            <a:endParaRPr lang="en-US" sz="1500" dirty="0"/>
          </a:p>
          <a:p>
            <a:pPr lvl="2"/>
            <a:r>
              <a:rPr lang="en-US" sz="1500" dirty="0"/>
              <a:t>Align curriculum with </a:t>
            </a:r>
            <a:r>
              <a:rPr lang="en-US" sz="1500" b="1" dirty="0"/>
              <a:t>high-performing academic domains</a:t>
            </a:r>
            <a:endParaRPr lang="en-US" sz="1500" dirty="0"/>
          </a:p>
          <a:p>
            <a:pPr lvl="2"/>
            <a:r>
              <a:rPr lang="en-US" sz="1500" dirty="0"/>
              <a:t>Guide mentorship using </a:t>
            </a:r>
            <a:r>
              <a:rPr lang="en-US" sz="1500" b="1" dirty="0"/>
              <a:t>performance-based insights</a:t>
            </a:r>
            <a:endParaRPr lang="en-US" sz="1500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Students &amp; Career Advisors</a:t>
            </a:r>
            <a:endParaRPr lang="en-US" sz="1500" dirty="0"/>
          </a:p>
          <a:p>
            <a:pPr lvl="2"/>
            <a:r>
              <a:rPr lang="en-US" sz="1500" dirty="0"/>
              <a:t>Understand how </a:t>
            </a:r>
            <a:r>
              <a:rPr lang="en-US" sz="1500" b="1" dirty="0"/>
              <a:t>specialization, and academic background impact salary outcomes</a:t>
            </a:r>
            <a:endParaRPr lang="en-US" sz="1500" dirty="0"/>
          </a:p>
          <a:p>
            <a:pPr lvl="2"/>
            <a:r>
              <a:rPr lang="en-US" sz="1500" dirty="0"/>
              <a:t>Make informed decisions about </a:t>
            </a:r>
            <a:r>
              <a:rPr lang="en-US" sz="1500" b="1" dirty="0"/>
              <a:t>career focus and skill development</a:t>
            </a:r>
            <a:endParaRPr lang="en-US" sz="1500" dirty="0"/>
          </a:p>
          <a:p>
            <a:pPr lvl="2"/>
            <a:r>
              <a:rPr lang="en-US" sz="1500" dirty="0"/>
              <a:t>Set realistic expectations regarding </a:t>
            </a:r>
            <a:r>
              <a:rPr lang="en-US" sz="1500" b="1" dirty="0"/>
              <a:t>placement and compensation trends</a:t>
            </a:r>
            <a:endParaRPr lang="en-US" sz="1500" dirty="0"/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Recruiters &amp; Industry Partners</a:t>
            </a:r>
            <a:endParaRPr lang="en-US" sz="1500" dirty="0"/>
          </a:p>
          <a:p>
            <a:pPr lvl="2"/>
            <a:r>
              <a:rPr lang="en-US" sz="1500" dirty="0"/>
              <a:t>Identify </a:t>
            </a:r>
            <a:r>
              <a:rPr lang="en-US" sz="1500" b="1" dirty="0"/>
              <a:t>high-performing academic segments</a:t>
            </a:r>
            <a:endParaRPr lang="en-US" sz="1500" dirty="0"/>
          </a:p>
          <a:p>
            <a:pPr lvl="2"/>
            <a:r>
              <a:rPr lang="en-US" sz="1500" dirty="0"/>
              <a:t>Access data-backed insights on </a:t>
            </a:r>
            <a:r>
              <a:rPr lang="en-US" sz="1500" b="1" dirty="0"/>
              <a:t>student quality and specialization strengths</a:t>
            </a:r>
            <a:endParaRPr lang="en-US" sz="1500" dirty="0"/>
          </a:p>
          <a:p>
            <a:pPr lvl="2"/>
            <a:r>
              <a:rPr lang="en-US" sz="1500" dirty="0"/>
              <a:t>Optimize </a:t>
            </a:r>
            <a:r>
              <a:rPr lang="en-US" sz="1500" b="1" dirty="0"/>
              <a:t>recruitment strategy and hiring pipelines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9D7EC8-B9CA-B4FE-6353-819CB77BD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3043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9697</TotalTime>
  <Words>1079</Words>
  <Application>Microsoft Office PowerPoint</Application>
  <PresentationFormat>Widescreen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Academy for Business Careers, Data &amp; Entrepreneurship (ABCDE) - Placement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 – Placement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61</cp:revision>
  <dcterms:created xsi:type="dcterms:W3CDTF">2025-09-09T12:03:39Z</dcterms:created>
  <dcterms:modified xsi:type="dcterms:W3CDTF">2026-04-04T20:58:48Z</dcterms:modified>
</cp:coreProperties>
</file>